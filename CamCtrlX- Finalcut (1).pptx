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300" r:id="rId5"/>
    <p:sldId id="259" r:id="rId6"/>
    <p:sldId id="316" r:id="rId7"/>
    <p:sldId id="278" r:id="rId8"/>
    <p:sldId id="297" r:id="rId9"/>
    <p:sldId id="299" r:id="rId10"/>
    <p:sldId id="263" r:id="rId11"/>
    <p:sldId id="290" r:id="rId12"/>
    <p:sldId id="276" r:id="rId13"/>
    <p:sldId id="264" r:id="rId14"/>
    <p:sldId id="291" r:id="rId15"/>
    <p:sldId id="265" r:id="rId16"/>
    <p:sldId id="281" r:id="rId17"/>
    <p:sldId id="269" r:id="rId18"/>
    <p:sldId id="270" r:id="rId19"/>
    <p:sldId id="293" r:id="rId20"/>
    <p:sldId id="277" r:id="rId21"/>
    <p:sldId id="318" r:id="rId22"/>
    <p:sldId id="305" r:id="rId23"/>
    <p:sldId id="304" r:id="rId24"/>
    <p:sldId id="287" r:id="rId25"/>
    <p:sldId id="301" r:id="rId26"/>
    <p:sldId id="309" r:id="rId27"/>
    <p:sldId id="308" r:id="rId28"/>
    <p:sldId id="307" r:id="rId29"/>
    <p:sldId id="271" r:id="rId30"/>
    <p:sldId id="280" r:id="rId31"/>
    <p:sldId id="312" r:id="rId32"/>
    <p:sldId id="313" r:id="rId33"/>
    <p:sldId id="314" r:id="rId34"/>
    <p:sldId id="274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42" autoAdjust="0"/>
    <p:restoredTop sz="94648"/>
  </p:normalViewPr>
  <p:slideViewPr>
    <p:cSldViewPr snapToGrid="0">
      <p:cViewPr varScale="1">
        <p:scale>
          <a:sx n="90" d="100"/>
          <a:sy n="90" d="100"/>
        </p:scale>
        <p:origin x="21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F59AC9-30A0-440B-AF41-94819212A481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88E1B2-F8F7-41C2-BFC5-B9ECD75AD5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74052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88E1B2-F8F7-41C2-BFC5-B9ECD75AD531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24309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88E1B2-F8F7-41C2-BFC5-B9ECD75AD531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45309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88E1B2-F8F7-41C2-BFC5-B9ECD75AD531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48364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88E1B2-F8F7-41C2-BFC5-B9ECD75AD531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75259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88E1B2-F8F7-41C2-BFC5-B9ECD75AD531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88005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88E1B2-F8F7-41C2-BFC5-B9ECD75AD531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40662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88E1B2-F8F7-41C2-BFC5-B9ECD75AD531}" type="slidenum">
              <a:rPr lang="en-IN" smtClean="0"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04135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88E1B2-F8F7-41C2-BFC5-B9ECD75AD531}" type="slidenum">
              <a:rPr lang="en-IN" smtClean="0"/>
              <a:t>30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05364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88E1B2-F8F7-41C2-BFC5-B9ECD75AD531}" type="slidenum">
              <a:rPr lang="en-IN" smtClean="0"/>
              <a:t>34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1098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05A7E-0625-4C55-0F84-E09167684A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EAC7DD-633C-E347-5238-700725B7C5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250173-FF3E-46E1-6CF9-3F7E7D64F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8C13F-C621-4EE4-BE50-3B8B7BF01E8F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ED2BC2-D9E8-E95A-3079-36D16502A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1D59C3-843F-63C6-0B88-1124679A7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8062F-E083-4631-A010-A50ED976E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08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A6602-FA74-09F7-7AF3-ABA73C2F7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AC1F86-8539-8AE0-07D2-4EF7189EF1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22462F-5F63-841F-72C2-07EEF15CB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8C13F-C621-4EE4-BE50-3B8B7BF01E8F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726624-A3DE-BE83-1D12-853252FB9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374AB-368F-4449-1309-6DF199ABA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8062F-E083-4631-A010-A50ED976E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08560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8A260-172A-1750-EC67-95E87A867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DD7568-5B21-2CBC-6373-921ED0A4F2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257A46-4BB2-1BE0-3390-D80657130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8C13F-C621-4EE4-BE50-3B8B7BF01E8F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72E9C6-BA55-649B-679A-383673854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8ADC92-48C9-A5FA-1557-552929CEA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8062F-E083-4631-A010-A50ED976E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3621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86191-2011-313C-BC4A-0F7A3D1DD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128010-9BB8-CDA2-05A5-12350BB250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7C9B92-8874-A515-6E6C-9CE9FFFFCE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465BF0-DF7A-9081-962A-B25D777E6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8C13F-C621-4EE4-BE50-3B8B7BF01E8F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BACC19-1EE4-BABF-2F09-3452EA5F2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56A759-A703-B1E9-1D44-E907A779B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8062F-E083-4631-A010-A50ED976E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06042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DDF60-42C2-4CE0-665F-B5D7EEC13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599603-BE71-7FF4-114F-C4FDD99D0E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3016AF-7681-9D40-BC2C-699E94E74E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CA6B90-FF0A-47D9-FD7F-73E06C5630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C91799-D48A-C7C9-301C-77CB51ED1A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9C2CC2-49CD-EE89-D5FF-C07F68405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8C13F-C621-4EE4-BE50-3B8B7BF01E8F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9A69C9-7E04-96DB-33F2-2A458B679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A8B490-4975-5158-8CE6-820249AAC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8062F-E083-4631-A010-A50ED976E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74691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F87CC-D218-BF01-7DCA-67C103C1A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100DCD-0640-07A4-D126-16D86FC34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8C13F-C621-4EE4-BE50-3B8B7BF01E8F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41037C-8C47-68BF-3653-1EC8391F4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B6E4A3-2867-D101-4840-E57F251C9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8062F-E083-4631-A010-A50ED976E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32953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C109C4-1BE1-AE19-2CBA-3D325EA42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8C13F-C621-4EE4-BE50-3B8B7BF01E8F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568BBF-F980-D84E-A90E-5B6EEA7D0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E49690-52B2-7AE0-1F96-FAA50158F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8062F-E083-4631-A010-A50ED976E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0901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522F8-76CE-AF40-D244-2F556B004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51EE23-344D-DDA0-DFFD-8B1CBCD6D5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DFA9FC-BFFE-8E98-9D31-8B290D8A64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878BA9-8F40-2C80-7E56-0FF85713B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8C13F-C621-4EE4-BE50-3B8B7BF01E8F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D74A4D-58E7-88E7-1E3D-753A3E586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458AE5-A843-328D-2DAC-EDECF2578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8062F-E083-4631-A010-A50ED976E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66704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9C0B2-79BC-ED10-5C8D-62363C3FD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4834B8-4B03-D558-5ED4-E99FEEC591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C7E6B2-136D-82CC-2AC6-550B8591D9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983A53-1AC4-03CA-45BE-D54076280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8C13F-C621-4EE4-BE50-3B8B7BF01E8F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22EE42-6906-A2A8-2137-3C2628B5B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1761E2-571F-8FB6-9ED2-41EAC8CEF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8062F-E083-4631-A010-A50ED976E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64047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A4A70-EBFC-43C6-8D3D-74B59622E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3B4147-4AC7-062D-620F-66D9870D69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6B6EDB-84C4-4775-E2FD-D1E4B0A5C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8C13F-C621-4EE4-BE50-3B8B7BF01E8F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85D3D5-C8AE-E53F-C5DA-66EE0092B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F05557-2DC7-3F05-EA69-5052D399D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8062F-E083-4631-A010-A50ED976E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39496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413312-7BE4-FD63-62DB-8AAE1F684D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39735E-90AC-B019-A36A-7D57622385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AD1201-8297-5064-C909-85EA26305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8C13F-C621-4EE4-BE50-3B8B7BF01E8F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52C1C4-150A-3E98-3382-1EB018898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F5E77E-26C4-9F34-6C71-B07B7CB94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8062F-E083-4631-A010-A50ED976E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47929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347F7F-FC21-7806-64C8-20C291932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08D339-83F4-C4D5-6B16-6186F0D2ED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789515-A60C-69C1-FB8A-01941E7084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98C13F-C621-4EE4-BE50-3B8B7BF01E8F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3A96BA-2E86-4B5D-041B-3B92FF4310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A82E0-9AC6-3ABA-4F03-42BA8E5EE0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08062F-E083-4631-A010-A50ED976E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1615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11" Type="http://schemas.openxmlformats.org/officeDocument/2006/relationships/image" Target="../media/image2.jpe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11" Type="http://schemas.openxmlformats.org/officeDocument/2006/relationships/image" Target="../media/image2.jpe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10" Type="http://schemas.openxmlformats.org/officeDocument/2006/relationships/image" Target="../media/image2.jpe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2.jpe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11" Type="http://schemas.openxmlformats.org/officeDocument/2006/relationships/image" Target="../media/image2.jpe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10" Type="http://schemas.openxmlformats.org/officeDocument/2006/relationships/image" Target="../media/image2.jpe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10" Type="http://schemas.openxmlformats.org/officeDocument/2006/relationships/image" Target="../media/image2.jpe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9.png"/><Relationship Id="rId7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4.svg"/><Relationship Id="rId4" Type="http://schemas.openxmlformats.org/officeDocument/2006/relationships/image" Target="../media/image10.svg"/><Relationship Id="rId9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jpe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4.svg"/><Relationship Id="rId5" Type="http://schemas.openxmlformats.org/officeDocument/2006/relationships/image" Target="../media/image10.svg"/><Relationship Id="rId10" Type="http://schemas.openxmlformats.org/officeDocument/2006/relationships/image" Target="../media/image3.png"/><Relationship Id="rId4" Type="http://schemas.openxmlformats.org/officeDocument/2006/relationships/image" Target="../media/image9.png"/><Relationship Id="rId9" Type="http://schemas.openxmlformats.org/officeDocument/2006/relationships/image" Target="../media/image6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11" Type="http://schemas.openxmlformats.org/officeDocument/2006/relationships/image" Target="../media/image2.jpe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10" Type="http://schemas.openxmlformats.org/officeDocument/2006/relationships/image" Target="../media/image2.jpe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11" Type="http://schemas.openxmlformats.org/officeDocument/2006/relationships/image" Target="../media/image2.jpe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9.png"/><Relationship Id="rId7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4.svg"/><Relationship Id="rId4" Type="http://schemas.openxmlformats.org/officeDocument/2006/relationships/image" Target="../media/image10.svg"/><Relationship Id="rId9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10" Type="http://schemas.openxmlformats.org/officeDocument/2006/relationships/image" Target="../media/image2.jpe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3.png"/><Relationship Id="rId5" Type="http://schemas.openxmlformats.org/officeDocument/2006/relationships/image" Target="../media/image6.svg"/><Relationship Id="rId10" Type="http://schemas.openxmlformats.org/officeDocument/2006/relationships/image" Target="../media/image2.jpe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10" Type="http://schemas.openxmlformats.org/officeDocument/2006/relationships/image" Target="../media/image2.jpe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10" Type="http://schemas.openxmlformats.org/officeDocument/2006/relationships/image" Target="../media/image2.jpe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9.png"/><Relationship Id="rId7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4.svg"/><Relationship Id="rId4" Type="http://schemas.openxmlformats.org/officeDocument/2006/relationships/image" Target="../media/image10.svg"/><Relationship Id="rId9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10" Type="http://schemas.openxmlformats.org/officeDocument/2006/relationships/image" Target="../media/image2.jpe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4.png"/><Relationship Id="rId5" Type="http://schemas.openxmlformats.org/officeDocument/2006/relationships/image" Target="../media/image6.svg"/><Relationship Id="rId10" Type="http://schemas.openxmlformats.org/officeDocument/2006/relationships/image" Target="../media/image2.jpe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11" Type="http://schemas.openxmlformats.org/officeDocument/2006/relationships/image" Target="../media/image2.jpe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11" Type="http://schemas.openxmlformats.org/officeDocument/2006/relationships/image" Target="../media/image2.jpe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11" Type="http://schemas.openxmlformats.org/officeDocument/2006/relationships/image" Target="../media/image2.jpe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11" Type="http://schemas.openxmlformats.org/officeDocument/2006/relationships/image" Target="../media/image2.jpe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11" Type="http://schemas.openxmlformats.org/officeDocument/2006/relationships/image" Target="../media/image2.jpe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11" Type="http://schemas.openxmlformats.org/officeDocument/2006/relationships/image" Target="../media/image2.jpe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11" Type="http://schemas.openxmlformats.org/officeDocument/2006/relationships/image" Target="../media/image2.jpe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11" Type="http://schemas.openxmlformats.org/officeDocument/2006/relationships/image" Target="../media/image2.jpe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11" Type="http://schemas.openxmlformats.org/officeDocument/2006/relationships/image" Target="../media/image2.jpe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10" Type="http://schemas.openxmlformats.org/officeDocument/2006/relationships/image" Target="../media/image2.jpe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hyperlink" Target="https://doi.org/10.1016/j.aei.2024.102898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11" Type="http://schemas.openxmlformats.org/officeDocument/2006/relationships/image" Target="../media/image2.jpe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hyperlink" Target="https://doi.org/10.1016/j.rineng.2023.101026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11" Type="http://schemas.openxmlformats.org/officeDocument/2006/relationships/image" Target="../media/image2.jpe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11" Type="http://schemas.openxmlformats.org/officeDocument/2006/relationships/image" Target="../media/image2.jpe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bout VKIT – VIVEKANANDA INSTITUTE OF TECHNOLOGY">
            <a:extLst>
              <a:ext uri="{FF2B5EF4-FFF2-40B4-BE49-F238E27FC236}">
                <a16:creationId xmlns:a16="http://schemas.microsoft.com/office/drawing/2014/main" id="{9FB38AA3-9CAB-DBE9-1B5C-B4738F0388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37683"/>
            <a:ext cx="12192000" cy="403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12">
            <a:extLst>
              <a:ext uri="{FF2B5EF4-FFF2-40B4-BE49-F238E27FC236}">
                <a16:creationId xmlns:a16="http://schemas.microsoft.com/office/drawing/2014/main" id="{A3D34AE9-C431-D0F5-AA81-975A063666D7}"/>
              </a:ext>
            </a:extLst>
          </p:cNvPr>
          <p:cNvGrpSpPr/>
          <p:nvPr/>
        </p:nvGrpSpPr>
        <p:grpSpPr>
          <a:xfrm>
            <a:off x="0" y="6330922"/>
            <a:ext cx="12192000" cy="546100"/>
            <a:chOff x="0" y="0"/>
            <a:chExt cx="6186311" cy="277095"/>
          </a:xfrm>
          <a:solidFill>
            <a:srgbClr val="FFC000"/>
          </a:solidFill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0893F74D-41F3-5C1C-F87B-55402CCCFD3D}"/>
                </a:ext>
              </a:extLst>
            </p:cNvPr>
            <p:cNvSpPr/>
            <p:nvPr/>
          </p:nvSpPr>
          <p:spPr>
            <a:xfrm>
              <a:off x="0" y="0"/>
              <a:ext cx="6186311" cy="277095"/>
            </a:xfrm>
            <a:custGeom>
              <a:avLst/>
              <a:gdLst/>
              <a:ahLst/>
              <a:cxnLst/>
              <a:rect l="l" t="t" r="r" b="b"/>
              <a:pathLst>
                <a:path w="6186311" h="277095">
                  <a:moveTo>
                    <a:pt x="0" y="0"/>
                  </a:moveTo>
                  <a:lnTo>
                    <a:pt x="6186311" y="0"/>
                  </a:lnTo>
                  <a:lnTo>
                    <a:pt x="6186311" y="277095"/>
                  </a:lnTo>
                  <a:lnTo>
                    <a:pt x="0" y="277095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3" name="TextBox 19">
            <a:extLst>
              <a:ext uri="{FF2B5EF4-FFF2-40B4-BE49-F238E27FC236}">
                <a16:creationId xmlns:a16="http://schemas.microsoft.com/office/drawing/2014/main" id="{893249FB-85AE-C43E-97F8-FC10CEFCC51D}"/>
              </a:ext>
            </a:extLst>
          </p:cNvPr>
          <p:cNvSpPr txBox="1"/>
          <p:nvPr/>
        </p:nvSpPr>
        <p:spPr>
          <a:xfrm>
            <a:off x="4622392" y="6448425"/>
            <a:ext cx="2520941" cy="249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70"/>
              </a:lnSpc>
              <a:spcBef>
                <a:spcPct val="0"/>
              </a:spcBef>
            </a:pPr>
            <a:r>
              <a:rPr lang="en-US" sz="1725" spc="86" dirty="0">
                <a:solidFill>
                  <a:srgbClr val="FFFFFF"/>
                </a:solidFill>
                <a:latin typeface="Lato Bold"/>
              </a:rPr>
              <a:t>https://vitb.ac.in/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98027A9-03DF-3594-3C3C-1A87D049145E}"/>
              </a:ext>
            </a:extLst>
          </p:cNvPr>
          <p:cNvSpPr txBox="1"/>
          <p:nvPr/>
        </p:nvSpPr>
        <p:spPr>
          <a:xfrm>
            <a:off x="263241" y="1160151"/>
            <a:ext cx="11469440" cy="5009638"/>
          </a:xfrm>
          <a:prstGeom prst="rect">
            <a:avLst/>
          </a:prstGeom>
        </p:spPr>
        <p:txBody>
          <a:bodyPr>
            <a:normAutofit fontScale="97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39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IN" sz="3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1A36A38-92BA-85F3-0881-6DB7EE60D775}"/>
              </a:ext>
            </a:extLst>
          </p:cNvPr>
          <p:cNvSpPr txBox="1"/>
          <p:nvPr/>
        </p:nvSpPr>
        <p:spPr>
          <a:xfrm>
            <a:off x="459319" y="1193933"/>
            <a:ext cx="11273362" cy="4839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ARTIFICIAL INTELLIGENCE AND MACHINE LEARNING</a:t>
            </a:r>
          </a:p>
          <a:p>
            <a:pPr algn="ctr"/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PHASE II PRESENTATION </a:t>
            </a:r>
          </a:p>
          <a:p>
            <a:pPr algn="ctr"/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</a:p>
          <a:p>
            <a:pPr marL="0" marR="0" algn="ctr">
              <a:lnSpc>
                <a:spcPct val="107000"/>
              </a:lnSpc>
              <a:spcAft>
                <a:spcPts val="800"/>
              </a:spcAft>
            </a:pPr>
            <a:r>
              <a:rPr lang="en-US" sz="16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“</a:t>
            </a:r>
            <a:r>
              <a:rPr lang="en-US" sz="1600" b="1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CamCtrlX</a:t>
            </a:r>
            <a:r>
              <a:rPr lang="en-US" sz="16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– The Intelligent DVR Automation System”</a:t>
            </a:r>
            <a:endParaRPr lang="en-US" sz="1600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pPr marL="0" marR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6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BHOOMIKA R		1VK22AI006</a:t>
            </a:r>
            <a:endParaRPr lang="en-US" sz="16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6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NITHIN GOWDA M S	1VK22AI025</a:t>
            </a:r>
            <a:endParaRPr lang="en-US" sz="16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6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SAGAR B R		1VK22AI033</a:t>
            </a:r>
            <a:endParaRPr lang="en-US" sz="16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07000"/>
              </a:lnSpc>
              <a:spcAft>
                <a:spcPts val="800"/>
              </a:spcAft>
            </a:pPr>
            <a:r>
              <a:rPr lang="en-US" sz="16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YASHFEEN FATHIMA	1VK22AI045</a:t>
            </a:r>
            <a:endParaRPr lang="en-US" sz="16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</a:t>
            </a:r>
          </a:p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SHAILA K</a:t>
            </a:r>
          </a:p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&amp; HOD, DEPT OF AIML-VKIT</a:t>
            </a:r>
          </a:p>
          <a:p>
            <a:pPr marL="0" marR="0" algn="ctr">
              <a:lnSpc>
                <a:spcPct val="107000"/>
              </a:lnSpc>
              <a:spcAft>
                <a:spcPts val="800"/>
              </a:spcAft>
            </a:pPr>
            <a:r>
              <a:rPr lang="en-IN" sz="1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endParaRPr lang="en-US" sz="18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D59D46A-A036-E6C7-B533-E589A596330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8" t="6458" r="666" b="6557"/>
          <a:stretch/>
        </p:blipFill>
        <p:spPr>
          <a:xfrm>
            <a:off x="0" y="-15722"/>
            <a:ext cx="12192000" cy="953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6812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5">
            <a:extLst>
              <a:ext uri="{FF2B5EF4-FFF2-40B4-BE49-F238E27FC236}">
                <a16:creationId xmlns:a16="http://schemas.microsoft.com/office/drawing/2014/main" id="{AE51EB97-F271-4616-92DB-B95C0ABD4B98}"/>
              </a:ext>
            </a:extLst>
          </p:cNvPr>
          <p:cNvSpPr txBox="1">
            <a:spLocks/>
          </p:cNvSpPr>
          <p:nvPr/>
        </p:nvSpPr>
        <p:spPr>
          <a:xfrm>
            <a:off x="131087" y="1520333"/>
            <a:ext cx="11929826" cy="486018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Survey </a:t>
            </a:r>
            <a:endParaRPr lang="en-US" sz="2400" dirty="0"/>
          </a:p>
          <a:p>
            <a:pPr>
              <a:buFont typeface="Wingdings" panose="05000000000000000000" charset="0"/>
              <a:buChar char="q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and Gaps identified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  <a:p>
            <a:pPr>
              <a:buFont typeface="Wingdings" panose="05000000000000000000" charset="0"/>
              <a:buChar char="q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Specifications</a:t>
            </a:r>
          </a:p>
          <a:p>
            <a:pPr>
              <a:buFont typeface="Wingdings" panose="05000000000000000000" charset="0"/>
              <a:buChar char="q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Design </a:t>
            </a:r>
          </a:p>
          <a:p>
            <a:pPr>
              <a:buFont typeface="Wingdings" panose="05000000000000000000" charset="0"/>
              <a:buChar char="q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–development environment </a:t>
            </a:r>
          </a:p>
          <a:p>
            <a:pPr>
              <a:buFont typeface="Wingdings" panose="05000000000000000000" charset="0"/>
              <a:buChar char="q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itle 8">
            <a:extLst>
              <a:ext uri="{FF2B5EF4-FFF2-40B4-BE49-F238E27FC236}">
                <a16:creationId xmlns:a16="http://schemas.microsoft.com/office/drawing/2014/main" id="{35E67535-AA34-167B-06F3-BF3F014FF538}"/>
              </a:ext>
            </a:extLst>
          </p:cNvPr>
          <p:cNvSpPr txBox="1">
            <a:spLocks/>
          </p:cNvSpPr>
          <p:nvPr/>
        </p:nvSpPr>
        <p:spPr>
          <a:xfrm>
            <a:off x="139870" y="1058987"/>
            <a:ext cx="10131425" cy="347046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9" name="Group 2">
            <a:extLst>
              <a:ext uri="{FF2B5EF4-FFF2-40B4-BE49-F238E27FC236}">
                <a16:creationId xmlns:a16="http://schemas.microsoft.com/office/drawing/2014/main" id="{C2A77CD9-6D01-A8DB-C66D-BF03B69941D6}"/>
              </a:ext>
            </a:extLst>
          </p:cNvPr>
          <p:cNvGrpSpPr/>
          <p:nvPr/>
        </p:nvGrpSpPr>
        <p:grpSpPr>
          <a:xfrm>
            <a:off x="0" y="6311900"/>
            <a:ext cx="12192000" cy="546100"/>
            <a:chOff x="0" y="0"/>
            <a:chExt cx="6186311" cy="277095"/>
          </a:xfrm>
        </p:grpSpPr>
        <p:sp>
          <p:nvSpPr>
            <p:cNvPr id="20" name="Freeform 3">
              <a:extLst>
                <a:ext uri="{FF2B5EF4-FFF2-40B4-BE49-F238E27FC236}">
                  <a16:creationId xmlns:a16="http://schemas.microsoft.com/office/drawing/2014/main" id="{78297845-B487-3D71-6C3A-180D740BEF2A}"/>
                </a:ext>
              </a:extLst>
            </p:cNvPr>
            <p:cNvSpPr/>
            <p:nvPr/>
          </p:nvSpPr>
          <p:spPr>
            <a:xfrm>
              <a:off x="0" y="0"/>
              <a:ext cx="6186311" cy="277095"/>
            </a:xfrm>
            <a:custGeom>
              <a:avLst/>
              <a:gdLst/>
              <a:ahLst/>
              <a:cxnLst/>
              <a:rect l="l" t="t" r="r" b="b"/>
              <a:pathLst>
                <a:path w="6186311" h="277095">
                  <a:moveTo>
                    <a:pt x="0" y="0"/>
                  </a:moveTo>
                  <a:lnTo>
                    <a:pt x="6186311" y="0"/>
                  </a:lnTo>
                  <a:lnTo>
                    <a:pt x="6186311" y="277095"/>
                  </a:lnTo>
                  <a:lnTo>
                    <a:pt x="0" y="277095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/>
            <a:lstStyle/>
            <a:p>
              <a:endParaRPr lang="en-IN">
                <a:solidFill>
                  <a:srgbClr val="FFC000"/>
                </a:solidFill>
              </a:endParaRPr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5BF16DE-C2ED-E5FA-FED5-20411081BC54}"/>
              </a:ext>
            </a:extLst>
          </p:cNvPr>
          <p:cNvCxnSpPr/>
          <p:nvPr/>
        </p:nvCxnSpPr>
        <p:spPr>
          <a:xfrm>
            <a:off x="0" y="939800"/>
            <a:ext cx="12192000" cy="105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4">
            <a:extLst>
              <a:ext uri="{FF2B5EF4-FFF2-40B4-BE49-F238E27FC236}">
                <a16:creationId xmlns:a16="http://schemas.microsoft.com/office/drawing/2014/main" id="{A38916BD-2F6C-8C5C-69F1-20EF826FFC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8726575" y="6426200"/>
            <a:ext cx="317500" cy="317500"/>
          </a:xfrm>
          <a:prstGeom prst="rect">
            <a:avLst/>
          </a:prstGeom>
        </p:spPr>
      </p:pic>
      <p:pic>
        <p:nvPicPr>
          <p:cNvPr id="27" name="Picture 5">
            <a:extLst>
              <a:ext uri="{FF2B5EF4-FFF2-40B4-BE49-F238E27FC236}">
                <a16:creationId xmlns:a16="http://schemas.microsoft.com/office/drawing/2014/main" id="{C0CB9FD8-D8C9-4709-8349-C8C9267E832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9119414" y="6426200"/>
            <a:ext cx="317500" cy="317500"/>
          </a:xfrm>
          <a:prstGeom prst="rect">
            <a:avLst/>
          </a:prstGeom>
        </p:spPr>
      </p:pic>
      <p:pic>
        <p:nvPicPr>
          <p:cNvPr id="28" name="Picture 6">
            <a:extLst>
              <a:ext uri="{FF2B5EF4-FFF2-40B4-BE49-F238E27FC236}">
                <a16:creationId xmlns:a16="http://schemas.microsoft.com/office/drawing/2014/main" id="{DB4FE3B4-BB90-79D8-EB65-C10A428A39D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9512253" y="6426200"/>
            <a:ext cx="317500" cy="317500"/>
          </a:xfrm>
          <a:prstGeom prst="rect">
            <a:avLst/>
          </a:prstGeom>
        </p:spPr>
      </p:pic>
      <p:pic>
        <p:nvPicPr>
          <p:cNvPr id="29" name="Picture 7">
            <a:extLst>
              <a:ext uri="{FF2B5EF4-FFF2-40B4-BE49-F238E27FC236}">
                <a16:creationId xmlns:a16="http://schemas.microsoft.com/office/drawing/2014/main" id="{6BEDBDB7-0B57-60B5-B67A-1FA0861D1DA9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>
          <a:xfrm>
            <a:off x="9883567" y="6426200"/>
            <a:ext cx="317500" cy="317500"/>
          </a:xfrm>
          <a:prstGeom prst="rect">
            <a:avLst/>
          </a:prstGeom>
        </p:spPr>
      </p:pic>
      <p:sp>
        <p:nvSpPr>
          <p:cNvPr id="30" name="TextBox 8">
            <a:extLst>
              <a:ext uri="{FF2B5EF4-FFF2-40B4-BE49-F238E27FC236}">
                <a16:creationId xmlns:a16="http://schemas.microsoft.com/office/drawing/2014/main" id="{BDC56BF2-92F3-3F12-F910-2816DF452EE8}"/>
              </a:ext>
            </a:extLst>
          </p:cNvPr>
          <p:cNvSpPr txBox="1"/>
          <p:nvPr/>
        </p:nvSpPr>
        <p:spPr>
          <a:xfrm>
            <a:off x="10201067" y="6448425"/>
            <a:ext cx="1990933" cy="2490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70"/>
              </a:lnSpc>
              <a:spcBef>
                <a:spcPct val="0"/>
              </a:spcBef>
            </a:pPr>
            <a:r>
              <a:rPr lang="en-US" sz="1725" spc="86" dirty="0">
                <a:solidFill>
                  <a:srgbClr val="FFFFFF"/>
                </a:solidFill>
                <a:latin typeface="Lato Bold"/>
              </a:rPr>
              <a:t>https://vitb.ac.in/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7DFB8A6-0EE4-6DA4-62D9-66050FDB6285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8" t="6458" r="666" b="6557"/>
          <a:stretch/>
        </p:blipFill>
        <p:spPr>
          <a:xfrm>
            <a:off x="0" y="-15722"/>
            <a:ext cx="12192000" cy="95552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6C7F839-BF1E-6612-E3A2-158F440202F4}"/>
              </a:ext>
            </a:extLst>
          </p:cNvPr>
          <p:cNvSpPr txBox="1"/>
          <p:nvPr/>
        </p:nvSpPr>
        <p:spPr>
          <a:xfrm>
            <a:off x="256032" y="6448425"/>
            <a:ext cx="4396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OF AI&amp;ML, VKIT</a:t>
            </a:r>
          </a:p>
        </p:txBody>
      </p:sp>
    </p:spTree>
    <p:extLst>
      <p:ext uri="{BB962C8B-B14F-4D97-AF65-F5344CB8AC3E}">
        <p14:creationId xmlns:p14="http://schemas.microsoft.com/office/powerpoint/2010/main" val="9438800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2">
            <a:extLst>
              <a:ext uri="{FF2B5EF4-FFF2-40B4-BE49-F238E27FC236}">
                <a16:creationId xmlns:a16="http://schemas.microsoft.com/office/drawing/2014/main" id="{C2A77CD9-6D01-A8DB-C66D-BF03B69941D6}"/>
              </a:ext>
            </a:extLst>
          </p:cNvPr>
          <p:cNvGrpSpPr/>
          <p:nvPr/>
        </p:nvGrpSpPr>
        <p:grpSpPr>
          <a:xfrm>
            <a:off x="0" y="6311900"/>
            <a:ext cx="12192000" cy="546100"/>
            <a:chOff x="0" y="0"/>
            <a:chExt cx="6186311" cy="277095"/>
          </a:xfrm>
          <a:solidFill>
            <a:srgbClr val="FFC000"/>
          </a:solidFill>
        </p:grpSpPr>
        <p:sp>
          <p:nvSpPr>
            <p:cNvPr id="20" name="Freeform 3">
              <a:extLst>
                <a:ext uri="{FF2B5EF4-FFF2-40B4-BE49-F238E27FC236}">
                  <a16:creationId xmlns:a16="http://schemas.microsoft.com/office/drawing/2014/main" id="{78297845-B487-3D71-6C3A-180D740BEF2A}"/>
                </a:ext>
              </a:extLst>
            </p:cNvPr>
            <p:cNvSpPr/>
            <p:nvPr/>
          </p:nvSpPr>
          <p:spPr>
            <a:xfrm>
              <a:off x="0" y="0"/>
              <a:ext cx="6186311" cy="277095"/>
            </a:xfrm>
            <a:custGeom>
              <a:avLst/>
              <a:gdLst/>
              <a:ahLst/>
              <a:cxnLst/>
              <a:rect l="l" t="t" r="r" b="b"/>
              <a:pathLst>
                <a:path w="6186311" h="277095">
                  <a:moveTo>
                    <a:pt x="0" y="0"/>
                  </a:moveTo>
                  <a:lnTo>
                    <a:pt x="6186311" y="0"/>
                  </a:lnTo>
                  <a:lnTo>
                    <a:pt x="6186311" y="277095"/>
                  </a:lnTo>
                  <a:lnTo>
                    <a:pt x="0" y="277095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5BF16DE-C2ED-E5FA-FED5-20411081BC54}"/>
              </a:ext>
            </a:extLst>
          </p:cNvPr>
          <p:cNvCxnSpPr/>
          <p:nvPr/>
        </p:nvCxnSpPr>
        <p:spPr>
          <a:xfrm>
            <a:off x="0" y="939800"/>
            <a:ext cx="12192000" cy="105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4">
            <a:extLst>
              <a:ext uri="{FF2B5EF4-FFF2-40B4-BE49-F238E27FC236}">
                <a16:creationId xmlns:a16="http://schemas.microsoft.com/office/drawing/2014/main" id="{A38916BD-2F6C-8C5C-69F1-20EF826FFC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8726574" y="6404675"/>
            <a:ext cx="339025" cy="339025"/>
          </a:xfrm>
          <a:prstGeom prst="rect">
            <a:avLst/>
          </a:prstGeom>
        </p:spPr>
      </p:pic>
      <p:pic>
        <p:nvPicPr>
          <p:cNvPr id="27" name="Picture 5">
            <a:extLst>
              <a:ext uri="{FF2B5EF4-FFF2-40B4-BE49-F238E27FC236}">
                <a16:creationId xmlns:a16="http://schemas.microsoft.com/office/drawing/2014/main" id="{C0CB9FD8-D8C9-4709-8349-C8C9267E832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9119414" y="6426200"/>
            <a:ext cx="317500" cy="317500"/>
          </a:xfrm>
          <a:prstGeom prst="rect">
            <a:avLst/>
          </a:prstGeom>
        </p:spPr>
      </p:pic>
      <p:pic>
        <p:nvPicPr>
          <p:cNvPr id="28" name="Picture 6">
            <a:extLst>
              <a:ext uri="{FF2B5EF4-FFF2-40B4-BE49-F238E27FC236}">
                <a16:creationId xmlns:a16="http://schemas.microsoft.com/office/drawing/2014/main" id="{DB4FE3B4-BB90-79D8-EB65-C10A428A39D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9512253" y="6426200"/>
            <a:ext cx="317500" cy="317500"/>
          </a:xfrm>
          <a:prstGeom prst="rect">
            <a:avLst/>
          </a:prstGeom>
        </p:spPr>
      </p:pic>
      <p:pic>
        <p:nvPicPr>
          <p:cNvPr id="29" name="Picture 7">
            <a:extLst>
              <a:ext uri="{FF2B5EF4-FFF2-40B4-BE49-F238E27FC236}">
                <a16:creationId xmlns:a16="http://schemas.microsoft.com/office/drawing/2014/main" id="{6BEDBDB7-0B57-60B5-B67A-1FA0861D1DA9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>
          <a:xfrm>
            <a:off x="9883567" y="6426200"/>
            <a:ext cx="317500" cy="317500"/>
          </a:xfrm>
          <a:prstGeom prst="rect">
            <a:avLst/>
          </a:prstGeom>
        </p:spPr>
      </p:pic>
      <p:sp>
        <p:nvSpPr>
          <p:cNvPr id="30" name="TextBox 8">
            <a:extLst>
              <a:ext uri="{FF2B5EF4-FFF2-40B4-BE49-F238E27FC236}">
                <a16:creationId xmlns:a16="http://schemas.microsoft.com/office/drawing/2014/main" id="{BDC56BF2-92F3-3F12-F910-2816DF452EE8}"/>
              </a:ext>
            </a:extLst>
          </p:cNvPr>
          <p:cNvSpPr txBox="1"/>
          <p:nvPr/>
        </p:nvSpPr>
        <p:spPr>
          <a:xfrm>
            <a:off x="10201067" y="6448425"/>
            <a:ext cx="1990933" cy="2490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70"/>
              </a:lnSpc>
              <a:spcBef>
                <a:spcPct val="0"/>
              </a:spcBef>
            </a:pPr>
            <a:r>
              <a:rPr lang="en-US" sz="1725" spc="86" dirty="0">
                <a:solidFill>
                  <a:srgbClr val="FFFFFF"/>
                </a:solidFill>
                <a:latin typeface="Lato Bold"/>
              </a:rPr>
              <a:t>https://vitb.ac.in/</a:t>
            </a:r>
          </a:p>
        </p:txBody>
      </p:sp>
      <p:sp>
        <p:nvSpPr>
          <p:cNvPr id="13" name="Title 8">
            <a:extLst>
              <a:ext uri="{FF2B5EF4-FFF2-40B4-BE49-F238E27FC236}">
                <a16:creationId xmlns:a16="http://schemas.microsoft.com/office/drawing/2014/main" id="{12492449-092F-2489-42C6-37071677B220}"/>
              </a:ext>
            </a:extLst>
          </p:cNvPr>
          <p:cNvSpPr txBox="1">
            <a:spLocks/>
          </p:cNvSpPr>
          <p:nvPr/>
        </p:nvSpPr>
        <p:spPr>
          <a:xfrm>
            <a:off x="139870" y="1065914"/>
            <a:ext cx="10131425" cy="347046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18D1E11A-7BB4-72E8-5797-07BA67914B54}"/>
              </a:ext>
            </a:extLst>
          </p:cNvPr>
          <p:cNvSpPr txBox="1">
            <a:spLocks/>
          </p:cNvSpPr>
          <p:nvPr/>
        </p:nvSpPr>
        <p:spPr>
          <a:xfrm>
            <a:off x="131087" y="1588261"/>
            <a:ext cx="11832313" cy="432888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Content Placeholder 5">
            <a:extLst>
              <a:ext uri="{FF2B5EF4-FFF2-40B4-BE49-F238E27FC236}">
                <a16:creationId xmlns:a16="http://schemas.microsoft.com/office/drawing/2014/main" id="{3C8B49E0-CF26-57A6-D6AA-AF50219BD68C}"/>
              </a:ext>
            </a:extLst>
          </p:cNvPr>
          <p:cNvSpPr txBox="1">
            <a:spLocks/>
          </p:cNvSpPr>
          <p:nvPr/>
        </p:nvSpPr>
        <p:spPr>
          <a:xfrm>
            <a:off x="283488" y="1740661"/>
            <a:ext cx="11500346" cy="432888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attendance management systems rely heavily on manual processes such as punch cards, biometric fingerprint scanners, or manual registers. 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methods suffer from various limitations including time consumption, potential for proxy attendance, hardware maintenance costs, and lack of real-time monitoring capabilities. 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the advancement of artificial intelligence and computer vision technologies, there is a significant opportunity to revolutionize attendance tracking systems.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DVR automation has emerged as a transformative technology that enhances efficiency, minimizes human intervention, and improves the overall management of video recording systems. </a:t>
            </a:r>
          </a:p>
          <a:p>
            <a:pPr algn="just">
              <a:lnSpc>
                <a:spcPct val="150000"/>
              </a:lnSpc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9789A926-AA47-B4C4-5806-D5636BCE4B10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8" t="6458" r="666" b="6557"/>
          <a:stretch/>
        </p:blipFill>
        <p:spPr>
          <a:xfrm>
            <a:off x="0" y="-15722"/>
            <a:ext cx="12192000" cy="95552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48568C0-E041-114C-C0A2-F7DEBF43D8FB}"/>
              </a:ext>
            </a:extLst>
          </p:cNvPr>
          <p:cNvSpPr txBox="1"/>
          <p:nvPr/>
        </p:nvSpPr>
        <p:spPr>
          <a:xfrm>
            <a:off x="256032" y="6448425"/>
            <a:ext cx="4396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OF AI&amp;ML, VKIT</a:t>
            </a:r>
          </a:p>
        </p:txBody>
      </p:sp>
    </p:spTree>
    <p:extLst>
      <p:ext uri="{BB962C8B-B14F-4D97-AF65-F5344CB8AC3E}">
        <p14:creationId xmlns:p14="http://schemas.microsoft.com/office/powerpoint/2010/main" val="26923661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DDFB4-6FA8-5A5B-1FD1-BB1145A3F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2">
            <a:extLst>
              <a:ext uri="{FF2B5EF4-FFF2-40B4-BE49-F238E27FC236}">
                <a16:creationId xmlns:a16="http://schemas.microsoft.com/office/drawing/2014/main" id="{38F348D4-FA56-84F2-37B6-089311CDD528}"/>
              </a:ext>
            </a:extLst>
          </p:cNvPr>
          <p:cNvGrpSpPr/>
          <p:nvPr/>
        </p:nvGrpSpPr>
        <p:grpSpPr>
          <a:xfrm>
            <a:off x="0" y="6311900"/>
            <a:ext cx="12192000" cy="546100"/>
            <a:chOff x="0" y="0"/>
            <a:chExt cx="6186311" cy="277095"/>
          </a:xfrm>
          <a:solidFill>
            <a:srgbClr val="FFC000"/>
          </a:solidFill>
        </p:grpSpPr>
        <p:sp>
          <p:nvSpPr>
            <p:cNvPr id="20" name="Freeform 3">
              <a:extLst>
                <a:ext uri="{FF2B5EF4-FFF2-40B4-BE49-F238E27FC236}">
                  <a16:creationId xmlns:a16="http://schemas.microsoft.com/office/drawing/2014/main" id="{6B97ACBB-A503-E1C8-DA7D-2D8FD662E64A}"/>
                </a:ext>
              </a:extLst>
            </p:cNvPr>
            <p:cNvSpPr/>
            <p:nvPr/>
          </p:nvSpPr>
          <p:spPr>
            <a:xfrm>
              <a:off x="0" y="0"/>
              <a:ext cx="6186311" cy="277095"/>
            </a:xfrm>
            <a:custGeom>
              <a:avLst/>
              <a:gdLst/>
              <a:ahLst/>
              <a:cxnLst/>
              <a:rect l="l" t="t" r="r" b="b"/>
              <a:pathLst>
                <a:path w="6186311" h="277095">
                  <a:moveTo>
                    <a:pt x="0" y="0"/>
                  </a:moveTo>
                  <a:lnTo>
                    <a:pt x="6186311" y="0"/>
                  </a:lnTo>
                  <a:lnTo>
                    <a:pt x="6186311" y="277095"/>
                  </a:lnTo>
                  <a:lnTo>
                    <a:pt x="0" y="277095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BF92D94-3774-518F-5C68-79C2612D692E}"/>
              </a:ext>
            </a:extLst>
          </p:cNvPr>
          <p:cNvCxnSpPr/>
          <p:nvPr/>
        </p:nvCxnSpPr>
        <p:spPr>
          <a:xfrm>
            <a:off x="0" y="939800"/>
            <a:ext cx="12192000" cy="105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4">
            <a:extLst>
              <a:ext uri="{FF2B5EF4-FFF2-40B4-BE49-F238E27FC236}">
                <a16:creationId xmlns:a16="http://schemas.microsoft.com/office/drawing/2014/main" id="{E9C65C59-2561-7EDD-2BE5-459FE5794D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8726574" y="6404675"/>
            <a:ext cx="339025" cy="339025"/>
          </a:xfrm>
          <a:prstGeom prst="rect">
            <a:avLst/>
          </a:prstGeom>
        </p:spPr>
      </p:pic>
      <p:pic>
        <p:nvPicPr>
          <p:cNvPr id="27" name="Picture 5">
            <a:extLst>
              <a:ext uri="{FF2B5EF4-FFF2-40B4-BE49-F238E27FC236}">
                <a16:creationId xmlns:a16="http://schemas.microsoft.com/office/drawing/2014/main" id="{904DE28A-16EF-4D83-45D1-5ACDE13CD56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9119414" y="6426200"/>
            <a:ext cx="317500" cy="317500"/>
          </a:xfrm>
          <a:prstGeom prst="rect">
            <a:avLst/>
          </a:prstGeom>
        </p:spPr>
      </p:pic>
      <p:pic>
        <p:nvPicPr>
          <p:cNvPr id="28" name="Picture 6">
            <a:extLst>
              <a:ext uri="{FF2B5EF4-FFF2-40B4-BE49-F238E27FC236}">
                <a16:creationId xmlns:a16="http://schemas.microsoft.com/office/drawing/2014/main" id="{C0B09C8E-282B-D030-AE07-B186B001F0A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9512253" y="6426200"/>
            <a:ext cx="317500" cy="317500"/>
          </a:xfrm>
          <a:prstGeom prst="rect">
            <a:avLst/>
          </a:prstGeom>
        </p:spPr>
      </p:pic>
      <p:pic>
        <p:nvPicPr>
          <p:cNvPr id="29" name="Picture 7">
            <a:extLst>
              <a:ext uri="{FF2B5EF4-FFF2-40B4-BE49-F238E27FC236}">
                <a16:creationId xmlns:a16="http://schemas.microsoft.com/office/drawing/2014/main" id="{F072E9DA-4882-6D93-0856-3A00DED9C062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>
            <a:off x="9883567" y="6426200"/>
            <a:ext cx="317500" cy="317500"/>
          </a:xfrm>
          <a:prstGeom prst="rect">
            <a:avLst/>
          </a:prstGeom>
        </p:spPr>
      </p:pic>
      <p:sp>
        <p:nvSpPr>
          <p:cNvPr id="30" name="TextBox 8">
            <a:extLst>
              <a:ext uri="{FF2B5EF4-FFF2-40B4-BE49-F238E27FC236}">
                <a16:creationId xmlns:a16="http://schemas.microsoft.com/office/drawing/2014/main" id="{CF2A4D12-5319-E19E-36DC-579C7AE33585}"/>
              </a:ext>
            </a:extLst>
          </p:cNvPr>
          <p:cNvSpPr txBox="1"/>
          <p:nvPr/>
        </p:nvSpPr>
        <p:spPr>
          <a:xfrm>
            <a:off x="10201067" y="6448425"/>
            <a:ext cx="1990933" cy="2490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70"/>
              </a:lnSpc>
              <a:spcBef>
                <a:spcPct val="0"/>
              </a:spcBef>
            </a:pPr>
            <a:r>
              <a:rPr lang="en-US" sz="1725" spc="86" dirty="0">
                <a:solidFill>
                  <a:srgbClr val="FFFFFF"/>
                </a:solidFill>
                <a:latin typeface="Lato Bold"/>
              </a:rPr>
              <a:t>https://vitb.ac.in/</a:t>
            </a:r>
          </a:p>
        </p:txBody>
      </p:sp>
      <p:sp>
        <p:nvSpPr>
          <p:cNvPr id="13" name="Title 8">
            <a:extLst>
              <a:ext uri="{FF2B5EF4-FFF2-40B4-BE49-F238E27FC236}">
                <a16:creationId xmlns:a16="http://schemas.microsoft.com/office/drawing/2014/main" id="{D15C3310-0E35-D362-35B2-939A4B8271C5}"/>
              </a:ext>
            </a:extLst>
          </p:cNvPr>
          <p:cNvSpPr txBox="1">
            <a:spLocks/>
          </p:cNvSpPr>
          <p:nvPr/>
        </p:nvSpPr>
        <p:spPr>
          <a:xfrm>
            <a:off x="139870" y="1065914"/>
            <a:ext cx="10131425" cy="347046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SURVEY 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DB0BBDD6-D8F6-3491-DE9B-65FCCD4485ED}"/>
              </a:ext>
            </a:extLst>
          </p:cNvPr>
          <p:cNvSpPr txBox="1">
            <a:spLocks/>
          </p:cNvSpPr>
          <p:nvPr/>
        </p:nvSpPr>
        <p:spPr>
          <a:xfrm>
            <a:off x="131087" y="1588261"/>
            <a:ext cx="11832313" cy="432888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Content Placeholder 5">
            <a:extLst>
              <a:ext uri="{FF2B5EF4-FFF2-40B4-BE49-F238E27FC236}">
                <a16:creationId xmlns:a16="http://schemas.microsoft.com/office/drawing/2014/main" id="{13BD8BFC-1BE2-EB6E-F5CE-E91A3B2ED472}"/>
              </a:ext>
            </a:extLst>
          </p:cNvPr>
          <p:cNvSpPr txBox="1">
            <a:spLocks/>
          </p:cNvSpPr>
          <p:nvPr/>
        </p:nvSpPr>
        <p:spPr>
          <a:xfrm>
            <a:off x="283488" y="1740661"/>
            <a:ext cx="11500346" cy="432888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2603F65D-13B2-4FF8-E0D9-6AB9F2AF672C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8" t="6458" r="666" b="6557"/>
          <a:stretch/>
        </p:blipFill>
        <p:spPr>
          <a:xfrm>
            <a:off x="0" y="-3908"/>
            <a:ext cx="12192000" cy="102359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9C806F3-651C-544E-FBE2-08C2AE0C607E}"/>
              </a:ext>
            </a:extLst>
          </p:cNvPr>
          <p:cNvSpPr txBox="1"/>
          <p:nvPr/>
        </p:nvSpPr>
        <p:spPr>
          <a:xfrm>
            <a:off x="256032" y="6448425"/>
            <a:ext cx="4396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OF AI&amp;ML, VKIT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4C42D12-41DE-1A56-924A-3A0D860E92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740661"/>
            <a:ext cx="10968580" cy="3268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survey was conducted to understand user awareness and requirements for a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DVR Automation System.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Survey tool used: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Google Forms.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problems faced by users in existing CCTV surveillance systems.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uestions asked: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people using CCTV Surveillance in daily life?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kind of CCTV Surveillance are they using (DVR/NVR)?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are the challenges people are facing in their CCTV Surveillance System?</a:t>
            </a:r>
          </a:p>
        </p:txBody>
      </p:sp>
    </p:spTree>
    <p:extLst>
      <p:ext uri="{BB962C8B-B14F-4D97-AF65-F5344CB8AC3E}">
        <p14:creationId xmlns:p14="http://schemas.microsoft.com/office/powerpoint/2010/main" val="6589963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2">
            <a:extLst>
              <a:ext uri="{FF2B5EF4-FFF2-40B4-BE49-F238E27FC236}">
                <a16:creationId xmlns:a16="http://schemas.microsoft.com/office/drawing/2014/main" id="{C2A77CD9-6D01-A8DB-C66D-BF03B69941D6}"/>
              </a:ext>
            </a:extLst>
          </p:cNvPr>
          <p:cNvGrpSpPr/>
          <p:nvPr/>
        </p:nvGrpSpPr>
        <p:grpSpPr>
          <a:xfrm>
            <a:off x="-2398" y="6342896"/>
            <a:ext cx="12192000" cy="546100"/>
            <a:chOff x="0" y="0"/>
            <a:chExt cx="6186311" cy="277095"/>
          </a:xfrm>
          <a:solidFill>
            <a:srgbClr val="FFC000"/>
          </a:solidFill>
        </p:grpSpPr>
        <p:sp>
          <p:nvSpPr>
            <p:cNvPr id="20" name="Freeform 3">
              <a:extLst>
                <a:ext uri="{FF2B5EF4-FFF2-40B4-BE49-F238E27FC236}">
                  <a16:creationId xmlns:a16="http://schemas.microsoft.com/office/drawing/2014/main" id="{78297845-B487-3D71-6C3A-180D740BEF2A}"/>
                </a:ext>
              </a:extLst>
            </p:cNvPr>
            <p:cNvSpPr/>
            <p:nvPr/>
          </p:nvSpPr>
          <p:spPr>
            <a:xfrm>
              <a:off x="0" y="0"/>
              <a:ext cx="6186311" cy="277095"/>
            </a:xfrm>
            <a:custGeom>
              <a:avLst/>
              <a:gdLst/>
              <a:ahLst/>
              <a:cxnLst/>
              <a:rect l="l" t="t" r="r" b="b"/>
              <a:pathLst>
                <a:path w="6186311" h="277095">
                  <a:moveTo>
                    <a:pt x="0" y="0"/>
                  </a:moveTo>
                  <a:lnTo>
                    <a:pt x="6186311" y="0"/>
                  </a:lnTo>
                  <a:lnTo>
                    <a:pt x="6186311" y="277095"/>
                  </a:lnTo>
                  <a:lnTo>
                    <a:pt x="0" y="277095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5BF16DE-C2ED-E5FA-FED5-20411081BC54}"/>
              </a:ext>
            </a:extLst>
          </p:cNvPr>
          <p:cNvCxnSpPr/>
          <p:nvPr/>
        </p:nvCxnSpPr>
        <p:spPr>
          <a:xfrm>
            <a:off x="0" y="939800"/>
            <a:ext cx="12192000" cy="105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4">
            <a:extLst>
              <a:ext uri="{FF2B5EF4-FFF2-40B4-BE49-F238E27FC236}">
                <a16:creationId xmlns:a16="http://schemas.microsoft.com/office/drawing/2014/main" id="{A38916BD-2F6C-8C5C-69F1-20EF826FFC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8726575" y="6426200"/>
            <a:ext cx="317500" cy="317500"/>
          </a:xfrm>
          <a:prstGeom prst="rect">
            <a:avLst/>
          </a:prstGeom>
        </p:spPr>
      </p:pic>
      <p:pic>
        <p:nvPicPr>
          <p:cNvPr id="27" name="Picture 5">
            <a:extLst>
              <a:ext uri="{FF2B5EF4-FFF2-40B4-BE49-F238E27FC236}">
                <a16:creationId xmlns:a16="http://schemas.microsoft.com/office/drawing/2014/main" id="{C0CB9FD8-D8C9-4709-8349-C8C9267E832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9119414" y="6426200"/>
            <a:ext cx="317500" cy="317500"/>
          </a:xfrm>
          <a:prstGeom prst="rect">
            <a:avLst/>
          </a:prstGeom>
        </p:spPr>
      </p:pic>
      <p:pic>
        <p:nvPicPr>
          <p:cNvPr id="28" name="Picture 6">
            <a:extLst>
              <a:ext uri="{FF2B5EF4-FFF2-40B4-BE49-F238E27FC236}">
                <a16:creationId xmlns:a16="http://schemas.microsoft.com/office/drawing/2014/main" id="{DB4FE3B4-BB90-79D8-EB65-C10A428A39D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9512253" y="6426200"/>
            <a:ext cx="317500" cy="317500"/>
          </a:xfrm>
          <a:prstGeom prst="rect">
            <a:avLst/>
          </a:prstGeom>
        </p:spPr>
      </p:pic>
      <p:pic>
        <p:nvPicPr>
          <p:cNvPr id="29" name="Picture 7">
            <a:extLst>
              <a:ext uri="{FF2B5EF4-FFF2-40B4-BE49-F238E27FC236}">
                <a16:creationId xmlns:a16="http://schemas.microsoft.com/office/drawing/2014/main" id="{6BEDBDB7-0B57-60B5-B67A-1FA0861D1DA9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>
          <a:xfrm>
            <a:off x="9914563" y="6426200"/>
            <a:ext cx="317500" cy="317500"/>
          </a:xfrm>
          <a:prstGeom prst="rect">
            <a:avLst/>
          </a:prstGeom>
        </p:spPr>
      </p:pic>
      <p:sp>
        <p:nvSpPr>
          <p:cNvPr id="30" name="TextBox 8">
            <a:extLst>
              <a:ext uri="{FF2B5EF4-FFF2-40B4-BE49-F238E27FC236}">
                <a16:creationId xmlns:a16="http://schemas.microsoft.com/office/drawing/2014/main" id="{BDC56BF2-92F3-3F12-F910-2816DF452EE8}"/>
              </a:ext>
            </a:extLst>
          </p:cNvPr>
          <p:cNvSpPr txBox="1"/>
          <p:nvPr/>
        </p:nvSpPr>
        <p:spPr>
          <a:xfrm>
            <a:off x="10201067" y="6448425"/>
            <a:ext cx="1990933" cy="2490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70"/>
              </a:lnSpc>
              <a:spcBef>
                <a:spcPct val="0"/>
              </a:spcBef>
            </a:pPr>
            <a:r>
              <a:rPr lang="en-US" sz="1725" spc="86" dirty="0">
                <a:solidFill>
                  <a:srgbClr val="FFFFFF"/>
                </a:solidFill>
                <a:latin typeface="Lato Bold"/>
              </a:rPr>
              <a:t>https://vitb.ac.in/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4EF8EBE-8A04-D1A1-E6C8-7A68C1E2B076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8" t="6458" r="666" b="6557"/>
          <a:stretch/>
        </p:blipFill>
        <p:spPr>
          <a:xfrm>
            <a:off x="0" y="-15722"/>
            <a:ext cx="12192000" cy="95552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DB17D7D-4136-7DA8-C6E6-9BA47690A129}"/>
              </a:ext>
            </a:extLst>
          </p:cNvPr>
          <p:cNvSpPr txBox="1"/>
          <p:nvPr/>
        </p:nvSpPr>
        <p:spPr>
          <a:xfrm>
            <a:off x="256032" y="6448425"/>
            <a:ext cx="4396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OF AI&amp;ML, VKIT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0BA76A-F4B8-60AD-D849-42EE8583AE8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863"/>
          <a:stretch>
            <a:fillRect/>
          </a:stretch>
        </p:blipFill>
        <p:spPr>
          <a:xfrm>
            <a:off x="448732" y="1541011"/>
            <a:ext cx="6223000" cy="391885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F84BDF2-572A-3240-A163-27B934781A2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002"/>
          <a:stretch>
            <a:fillRect/>
          </a:stretch>
        </p:blipFill>
        <p:spPr>
          <a:xfrm>
            <a:off x="5429693" y="1432985"/>
            <a:ext cx="6759909" cy="4134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8889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787FD-E421-AABA-FC5E-8E56F9A9C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2">
            <a:extLst>
              <a:ext uri="{FF2B5EF4-FFF2-40B4-BE49-F238E27FC236}">
                <a16:creationId xmlns:a16="http://schemas.microsoft.com/office/drawing/2014/main" id="{504BF510-7183-7DB5-8CBF-12C45A116723}"/>
              </a:ext>
            </a:extLst>
          </p:cNvPr>
          <p:cNvGrpSpPr/>
          <p:nvPr/>
        </p:nvGrpSpPr>
        <p:grpSpPr>
          <a:xfrm>
            <a:off x="-2398" y="6342896"/>
            <a:ext cx="12192000" cy="546100"/>
            <a:chOff x="0" y="0"/>
            <a:chExt cx="6186311" cy="277095"/>
          </a:xfrm>
          <a:solidFill>
            <a:srgbClr val="FFC000"/>
          </a:solidFill>
        </p:grpSpPr>
        <p:sp>
          <p:nvSpPr>
            <p:cNvPr id="20" name="Freeform 3">
              <a:extLst>
                <a:ext uri="{FF2B5EF4-FFF2-40B4-BE49-F238E27FC236}">
                  <a16:creationId xmlns:a16="http://schemas.microsoft.com/office/drawing/2014/main" id="{2F137F9F-C2E0-ADC6-0EFD-687CEE17EF6C}"/>
                </a:ext>
              </a:extLst>
            </p:cNvPr>
            <p:cNvSpPr/>
            <p:nvPr/>
          </p:nvSpPr>
          <p:spPr>
            <a:xfrm>
              <a:off x="0" y="0"/>
              <a:ext cx="6186311" cy="277095"/>
            </a:xfrm>
            <a:custGeom>
              <a:avLst/>
              <a:gdLst/>
              <a:ahLst/>
              <a:cxnLst/>
              <a:rect l="l" t="t" r="r" b="b"/>
              <a:pathLst>
                <a:path w="6186311" h="277095">
                  <a:moveTo>
                    <a:pt x="0" y="0"/>
                  </a:moveTo>
                  <a:lnTo>
                    <a:pt x="6186311" y="0"/>
                  </a:lnTo>
                  <a:lnTo>
                    <a:pt x="6186311" y="277095"/>
                  </a:lnTo>
                  <a:lnTo>
                    <a:pt x="0" y="277095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541CCEC-BA9C-94A7-6154-7E8025FB621C}"/>
              </a:ext>
            </a:extLst>
          </p:cNvPr>
          <p:cNvCxnSpPr/>
          <p:nvPr/>
        </p:nvCxnSpPr>
        <p:spPr>
          <a:xfrm>
            <a:off x="0" y="939800"/>
            <a:ext cx="12192000" cy="105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4">
            <a:extLst>
              <a:ext uri="{FF2B5EF4-FFF2-40B4-BE49-F238E27FC236}">
                <a16:creationId xmlns:a16="http://schemas.microsoft.com/office/drawing/2014/main" id="{441EA55E-D024-A9D2-1360-D61A2702B2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8726575" y="6426200"/>
            <a:ext cx="317500" cy="317500"/>
          </a:xfrm>
          <a:prstGeom prst="rect">
            <a:avLst/>
          </a:prstGeom>
        </p:spPr>
      </p:pic>
      <p:pic>
        <p:nvPicPr>
          <p:cNvPr id="27" name="Picture 5">
            <a:extLst>
              <a:ext uri="{FF2B5EF4-FFF2-40B4-BE49-F238E27FC236}">
                <a16:creationId xmlns:a16="http://schemas.microsoft.com/office/drawing/2014/main" id="{0780053C-E56B-D0C1-BF65-3B98DD4A832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9119414" y="6426200"/>
            <a:ext cx="317500" cy="317500"/>
          </a:xfrm>
          <a:prstGeom prst="rect">
            <a:avLst/>
          </a:prstGeom>
        </p:spPr>
      </p:pic>
      <p:pic>
        <p:nvPicPr>
          <p:cNvPr id="28" name="Picture 6">
            <a:extLst>
              <a:ext uri="{FF2B5EF4-FFF2-40B4-BE49-F238E27FC236}">
                <a16:creationId xmlns:a16="http://schemas.microsoft.com/office/drawing/2014/main" id="{EE08738E-C1FA-CBD3-4A00-57BB6633F94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9512253" y="6426200"/>
            <a:ext cx="317500" cy="317500"/>
          </a:xfrm>
          <a:prstGeom prst="rect">
            <a:avLst/>
          </a:prstGeom>
        </p:spPr>
      </p:pic>
      <p:pic>
        <p:nvPicPr>
          <p:cNvPr id="29" name="Picture 7">
            <a:extLst>
              <a:ext uri="{FF2B5EF4-FFF2-40B4-BE49-F238E27FC236}">
                <a16:creationId xmlns:a16="http://schemas.microsoft.com/office/drawing/2014/main" id="{569CD373-B905-A766-FE3A-3676B6D3DD8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>
            <a:off x="9914563" y="6426200"/>
            <a:ext cx="317500" cy="317500"/>
          </a:xfrm>
          <a:prstGeom prst="rect">
            <a:avLst/>
          </a:prstGeom>
        </p:spPr>
      </p:pic>
      <p:sp>
        <p:nvSpPr>
          <p:cNvPr id="30" name="TextBox 8">
            <a:extLst>
              <a:ext uri="{FF2B5EF4-FFF2-40B4-BE49-F238E27FC236}">
                <a16:creationId xmlns:a16="http://schemas.microsoft.com/office/drawing/2014/main" id="{BCDD1EEE-8E60-8EE4-7D5E-2CB4AD105B50}"/>
              </a:ext>
            </a:extLst>
          </p:cNvPr>
          <p:cNvSpPr txBox="1"/>
          <p:nvPr/>
        </p:nvSpPr>
        <p:spPr>
          <a:xfrm>
            <a:off x="10201067" y="6448425"/>
            <a:ext cx="1990933" cy="2490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70"/>
              </a:lnSpc>
              <a:spcBef>
                <a:spcPct val="0"/>
              </a:spcBef>
            </a:pPr>
            <a:r>
              <a:rPr lang="en-US" sz="1725" spc="86" dirty="0">
                <a:solidFill>
                  <a:srgbClr val="FFFFFF"/>
                </a:solidFill>
                <a:latin typeface="Lato Bold"/>
              </a:rPr>
              <a:t>https://vitb.ac.in/</a:t>
            </a:r>
          </a:p>
        </p:txBody>
      </p:sp>
      <p:sp>
        <p:nvSpPr>
          <p:cNvPr id="14" name="Title 8">
            <a:extLst>
              <a:ext uri="{FF2B5EF4-FFF2-40B4-BE49-F238E27FC236}">
                <a16:creationId xmlns:a16="http://schemas.microsoft.com/office/drawing/2014/main" id="{ABA07CC1-8766-CA8D-1842-1916476EFDB6}"/>
              </a:ext>
            </a:extLst>
          </p:cNvPr>
          <p:cNvSpPr txBox="1">
            <a:spLocks/>
          </p:cNvSpPr>
          <p:nvPr/>
        </p:nvSpPr>
        <p:spPr>
          <a:xfrm>
            <a:off x="139870" y="1065914"/>
            <a:ext cx="10131425" cy="347046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EBD6F6D-9604-844E-04AA-A37C789FF3CB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8" t="6458" r="666" b="6557"/>
          <a:stretch/>
        </p:blipFill>
        <p:spPr>
          <a:xfrm>
            <a:off x="0" y="-15722"/>
            <a:ext cx="12192000" cy="95552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98B2332-F6CF-5E13-904A-942EADCA49C5}"/>
              </a:ext>
            </a:extLst>
          </p:cNvPr>
          <p:cNvSpPr txBox="1"/>
          <p:nvPr/>
        </p:nvSpPr>
        <p:spPr>
          <a:xfrm>
            <a:off x="256032" y="6448425"/>
            <a:ext cx="4396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OF AI&amp;ML, VKIT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EBA83E-EE31-1EC7-3584-9133E22DC8CD}"/>
              </a:ext>
            </a:extLst>
          </p:cNvPr>
          <p:cNvSpPr txBox="1"/>
          <p:nvPr/>
        </p:nvSpPr>
        <p:spPr>
          <a:xfrm>
            <a:off x="808598" y="1895322"/>
            <a:ext cx="10570008" cy="2812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many organizations, employees still have to manually mark their attendance using cards or fingerprint machines. This process can be inconvenient and time-consuming, and it often depends on people remembering to check in and out correctly. Such systems can also be misused, allowing false or proxy attendance. Moreover, managers do not get real-time information about who is actually present at work, making it harder to track attendance accurately and manage the workforce efficiently.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946773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2">
            <a:extLst>
              <a:ext uri="{FF2B5EF4-FFF2-40B4-BE49-F238E27FC236}">
                <a16:creationId xmlns:a16="http://schemas.microsoft.com/office/drawing/2014/main" id="{C2A77CD9-6D01-A8DB-C66D-BF03B69941D6}"/>
              </a:ext>
            </a:extLst>
          </p:cNvPr>
          <p:cNvGrpSpPr/>
          <p:nvPr/>
        </p:nvGrpSpPr>
        <p:grpSpPr>
          <a:xfrm>
            <a:off x="0" y="6311900"/>
            <a:ext cx="12192000" cy="546100"/>
            <a:chOff x="0" y="0"/>
            <a:chExt cx="6186311" cy="277095"/>
          </a:xfrm>
          <a:solidFill>
            <a:srgbClr val="FFC000"/>
          </a:solidFill>
        </p:grpSpPr>
        <p:sp>
          <p:nvSpPr>
            <p:cNvPr id="20" name="Freeform 3">
              <a:extLst>
                <a:ext uri="{FF2B5EF4-FFF2-40B4-BE49-F238E27FC236}">
                  <a16:creationId xmlns:a16="http://schemas.microsoft.com/office/drawing/2014/main" id="{78297845-B487-3D71-6C3A-180D740BEF2A}"/>
                </a:ext>
              </a:extLst>
            </p:cNvPr>
            <p:cNvSpPr/>
            <p:nvPr/>
          </p:nvSpPr>
          <p:spPr>
            <a:xfrm>
              <a:off x="0" y="0"/>
              <a:ext cx="6186311" cy="277095"/>
            </a:xfrm>
            <a:custGeom>
              <a:avLst/>
              <a:gdLst/>
              <a:ahLst/>
              <a:cxnLst/>
              <a:rect l="l" t="t" r="r" b="b"/>
              <a:pathLst>
                <a:path w="6186311" h="277095">
                  <a:moveTo>
                    <a:pt x="0" y="0"/>
                  </a:moveTo>
                  <a:lnTo>
                    <a:pt x="6186311" y="0"/>
                  </a:lnTo>
                  <a:lnTo>
                    <a:pt x="6186311" y="277095"/>
                  </a:lnTo>
                  <a:lnTo>
                    <a:pt x="0" y="277095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5BF16DE-C2ED-E5FA-FED5-20411081BC54}"/>
              </a:ext>
            </a:extLst>
          </p:cNvPr>
          <p:cNvCxnSpPr/>
          <p:nvPr/>
        </p:nvCxnSpPr>
        <p:spPr>
          <a:xfrm>
            <a:off x="0" y="939800"/>
            <a:ext cx="12192000" cy="105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4">
            <a:extLst>
              <a:ext uri="{FF2B5EF4-FFF2-40B4-BE49-F238E27FC236}">
                <a16:creationId xmlns:a16="http://schemas.microsoft.com/office/drawing/2014/main" id="{A38916BD-2F6C-8C5C-69F1-20EF826FFCF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8726575" y="6426200"/>
            <a:ext cx="317500" cy="317500"/>
          </a:xfrm>
          <a:prstGeom prst="rect">
            <a:avLst/>
          </a:prstGeom>
        </p:spPr>
      </p:pic>
      <p:pic>
        <p:nvPicPr>
          <p:cNvPr id="27" name="Picture 5">
            <a:extLst>
              <a:ext uri="{FF2B5EF4-FFF2-40B4-BE49-F238E27FC236}">
                <a16:creationId xmlns:a16="http://schemas.microsoft.com/office/drawing/2014/main" id="{C0CB9FD8-D8C9-4709-8349-C8C9267E832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9119414" y="6426200"/>
            <a:ext cx="317500" cy="317500"/>
          </a:xfrm>
          <a:prstGeom prst="rect">
            <a:avLst/>
          </a:prstGeom>
        </p:spPr>
      </p:pic>
      <p:pic>
        <p:nvPicPr>
          <p:cNvPr id="28" name="Picture 6">
            <a:extLst>
              <a:ext uri="{FF2B5EF4-FFF2-40B4-BE49-F238E27FC236}">
                <a16:creationId xmlns:a16="http://schemas.microsoft.com/office/drawing/2014/main" id="{DB4FE3B4-BB90-79D8-EB65-C10A428A39D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9512253" y="6426200"/>
            <a:ext cx="317500" cy="317500"/>
          </a:xfrm>
          <a:prstGeom prst="rect">
            <a:avLst/>
          </a:prstGeom>
        </p:spPr>
      </p:pic>
      <p:pic>
        <p:nvPicPr>
          <p:cNvPr id="29" name="Picture 7">
            <a:extLst>
              <a:ext uri="{FF2B5EF4-FFF2-40B4-BE49-F238E27FC236}">
                <a16:creationId xmlns:a16="http://schemas.microsoft.com/office/drawing/2014/main" id="{6BEDBDB7-0B57-60B5-B67A-1FA0861D1DA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>
            <a:off x="9883567" y="6426200"/>
            <a:ext cx="317500" cy="317500"/>
          </a:xfrm>
          <a:prstGeom prst="rect">
            <a:avLst/>
          </a:prstGeom>
        </p:spPr>
      </p:pic>
      <p:sp>
        <p:nvSpPr>
          <p:cNvPr id="30" name="TextBox 8">
            <a:extLst>
              <a:ext uri="{FF2B5EF4-FFF2-40B4-BE49-F238E27FC236}">
                <a16:creationId xmlns:a16="http://schemas.microsoft.com/office/drawing/2014/main" id="{BDC56BF2-92F3-3F12-F910-2816DF452EE8}"/>
              </a:ext>
            </a:extLst>
          </p:cNvPr>
          <p:cNvSpPr txBox="1"/>
          <p:nvPr/>
        </p:nvSpPr>
        <p:spPr>
          <a:xfrm>
            <a:off x="10201067" y="6448425"/>
            <a:ext cx="1990933" cy="2490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70"/>
              </a:lnSpc>
              <a:spcBef>
                <a:spcPct val="0"/>
              </a:spcBef>
            </a:pPr>
            <a:r>
              <a:rPr lang="en-US" sz="1725" spc="86" dirty="0">
                <a:solidFill>
                  <a:srgbClr val="FFFFFF"/>
                </a:solidFill>
                <a:latin typeface="Lato Bold"/>
              </a:rPr>
              <a:t>https://vitb.ac.in/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F72A899F-935A-BD76-8CAD-62D80AC29C60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8" t="6458" r="666" b="6557"/>
          <a:stretch/>
        </p:blipFill>
        <p:spPr>
          <a:xfrm>
            <a:off x="0" y="-15722"/>
            <a:ext cx="12192000" cy="955522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0BAC6369-E3B5-ABA5-996D-10C2CB76D886}"/>
              </a:ext>
            </a:extLst>
          </p:cNvPr>
          <p:cNvSpPr txBox="1">
            <a:spLocks/>
          </p:cNvSpPr>
          <p:nvPr/>
        </p:nvSpPr>
        <p:spPr>
          <a:xfrm>
            <a:off x="139870" y="957417"/>
            <a:ext cx="10131425" cy="54292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7D83EE-054E-17CB-401E-A4E0FD567C16}"/>
              </a:ext>
            </a:extLst>
          </p:cNvPr>
          <p:cNvSpPr txBox="1"/>
          <p:nvPr/>
        </p:nvSpPr>
        <p:spPr>
          <a:xfrm>
            <a:off x="256032" y="6448425"/>
            <a:ext cx="4396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OF AI&amp;ML, VKIT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B303E63-7B33-D2D6-6CF9-8F4775B515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053661"/>
              </p:ext>
            </p:extLst>
          </p:nvPr>
        </p:nvGraphicFramePr>
        <p:xfrm>
          <a:off x="256032" y="1364523"/>
          <a:ext cx="11459980" cy="468568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91996">
                  <a:extLst>
                    <a:ext uri="{9D8B030D-6E8A-4147-A177-3AD203B41FA5}">
                      <a16:colId xmlns:a16="http://schemas.microsoft.com/office/drawing/2014/main" val="3837766751"/>
                    </a:ext>
                  </a:extLst>
                </a:gridCol>
                <a:gridCol w="2291996">
                  <a:extLst>
                    <a:ext uri="{9D8B030D-6E8A-4147-A177-3AD203B41FA5}">
                      <a16:colId xmlns:a16="http://schemas.microsoft.com/office/drawing/2014/main" val="1318721722"/>
                    </a:ext>
                  </a:extLst>
                </a:gridCol>
                <a:gridCol w="2291996">
                  <a:extLst>
                    <a:ext uri="{9D8B030D-6E8A-4147-A177-3AD203B41FA5}">
                      <a16:colId xmlns:a16="http://schemas.microsoft.com/office/drawing/2014/main" val="1722575060"/>
                    </a:ext>
                  </a:extLst>
                </a:gridCol>
                <a:gridCol w="2291996">
                  <a:extLst>
                    <a:ext uri="{9D8B030D-6E8A-4147-A177-3AD203B41FA5}">
                      <a16:colId xmlns:a16="http://schemas.microsoft.com/office/drawing/2014/main" val="2313421871"/>
                    </a:ext>
                  </a:extLst>
                </a:gridCol>
                <a:gridCol w="2291996">
                  <a:extLst>
                    <a:ext uri="{9D8B030D-6E8A-4147-A177-3AD203B41FA5}">
                      <a16:colId xmlns:a16="http://schemas.microsoft.com/office/drawing/2014/main" val="565810489"/>
                    </a:ext>
                  </a:extLst>
                </a:gridCol>
              </a:tblGrid>
              <a:tr h="311141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20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  <a:endParaRPr lang="en-IN" sz="20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97" marR="1397" marT="1397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20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</a:t>
                      </a:r>
                      <a:endParaRPr lang="en-IN" sz="20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97" marR="1397" marT="1397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20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</a:t>
                      </a:r>
                      <a:endParaRPr lang="en-IN" sz="20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97" marR="1397" marT="1397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20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  <a:endParaRPr lang="en-IN" sz="20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97" marR="1397" marT="1397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20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Outcome</a:t>
                      </a:r>
                      <a:endParaRPr lang="en-IN" sz="20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97" marR="1397" marT="1397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2192763"/>
                  </a:ext>
                </a:extLst>
              </a:tr>
              <a:tr h="952776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Khawla et al., [2025]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97" marR="1397" marT="1397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Face Recognition Smart Attendance System using Deep Transfer Learning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97" marR="1397" marT="1397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develop a smart attendance system leveraging face recognition capabilities.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97" marR="1397" marT="1397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Utilizes Deep Transfer Learning techniques by adapting pre-trained deep learning models for the specific task of face recognition.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97" marR="1397" marT="1397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Likely demonstrates effective and accurate automated attendance management, leveraging the benefits of transfer learning (reduced data/training time).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97" marR="1397" marT="1397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238871"/>
                  </a:ext>
                </a:extLst>
              </a:tr>
              <a:tr h="908114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Serign</a:t>
                      </a: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al., [2025]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97" marR="1397" marT="1397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 Improved Face Recognition Algorithm And Its Application In Attendance Management System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97" marR="1397" marT="1397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propose and apply an improved face recognition algorithm within an attendance management system.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97" marR="1397" marT="1397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Focuses on enhancing existing face recognition algorithms, potentially through novel pre-processing, feature extraction, or classification techniques.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97" marR="1397" marT="1397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Aims to achieve higher accuracy, robustness, or efficiency in face recognition for practical attendance scenarios.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97" marR="1397" marT="1397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9275654"/>
                  </a:ext>
                </a:extLst>
              </a:tr>
              <a:tr h="821769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Camilo et al., [2025]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97" marR="1397" marT="1397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Embedded Eye Detection System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97" marR="1397" marT="1397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develop an eye detection system optimized for real-time operation on embedded platforms.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97" marR="1397" marT="1397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Focuses on efficient algorithms and potentially optimized neural network architectures suitable for resource-constrained hardware.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97" marR="1397" marT="1397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Achieves rapid and accurate eye detection for applications like gaze tracking or driver monitoring in embedded environments.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97" marR="1397" marT="1397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9980757"/>
                  </a:ext>
                </a:extLst>
              </a:tr>
              <a:tr h="692251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Yuntae</a:t>
                      </a: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al., [2025]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97" marR="1397" marT="1397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Vision-based Motion Prediction For Construction Workers Safety In Real-time Multi-camera System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97" marR="1397" marT="1397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apply vision-based motion prediction to enhance safety for construction workers in a real-time multi-camera setup.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97" marR="1397" marT="1397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Processes data from multiple synchronized camera streams to predict worker movements.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97" marR="1397" marT="1397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Aims to anticipate dangerous situations and potentially trigger safety warnings, improving overall worker safety.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97" marR="1397" marT="1397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138423"/>
                  </a:ext>
                </a:extLst>
              </a:tr>
              <a:tr h="951287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Hobeom</a:t>
                      </a: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al., [2024]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97" marR="1397" marT="1397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PASS-CCTV: Proactive Anomaly Surveillance System For CCTV Footage Analysis In Adverse Environmental Conditions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97" marR="1397" marT="1397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create a proactive anomaly surveillance system for CCTV footage analysis, specifically robust to adverse environmental conditions.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97" marR="1397" marT="1397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Likely employs advanced image processing or deep learning techniques to handle noise, degraded video quality, and identify unusual events in challenging environments.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97" marR="1397" marT="1397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Demonstrates enhanced capability to detect anomalies in CCTV footage despite poor weather or lighting conditions.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97" marR="1397" marT="1397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88671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40599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02E3349-5DA5-1F31-DE2D-549902E85F5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8" t="6458" r="666" b="6557"/>
          <a:stretch/>
        </p:blipFill>
        <p:spPr>
          <a:xfrm>
            <a:off x="0" y="-15722"/>
            <a:ext cx="12192000" cy="955522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E8C81C03-75DB-9437-2BA0-90A37649AE10}"/>
              </a:ext>
            </a:extLst>
          </p:cNvPr>
          <p:cNvGrpSpPr/>
          <p:nvPr/>
        </p:nvGrpSpPr>
        <p:grpSpPr>
          <a:xfrm>
            <a:off x="0" y="6416831"/>
            <a:ext cx="12192000" cy="546100"/>
            <a:chOff x="0" y="0"/>
            <a:chExt cx="6186311" cy="277095"/>
          </a:xfrm>
          <a:solidFill>
            <a:srgbClr val="FFC000"/>
          </a:solidFill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A50F20CC-56B6-4773-C045-8B5DBB792589}"/>
                </a:ext>
              </a:extLst>
            </p:cNvPr>
            <p:cNvSpPr/>
            <p:nvPr/>
          </p:nvSpPr>
          <p:spPr>
            <a:xfrm>
              <a:off x="0" y="0"/>
              <a:ext cx="6186311" cy="277095"/>
            </a:xfrm>
            <a:custGeom>
              <a:avLst/>
              <a:gdLst/>
              <a:ahLst/>
              <a:cxnLst/>
              <a:rect l="l" t="t" r="r" b="b"/>
              <a:pathLst>
                <a:path w="6186311" h="277095">
                  <a:moveTo>
                    <a:pt x="0" y="0"/>
                  </a:moveTo>
                  <a:lnTo>
                    <a:pt x="6186311" y="0"/>
                  </a:lnTo>
                  <a:lnTo>
                    <a:pt x="6186311" y="277095"/>
                  </a:lnTo>
                  <a:lnTo>
                    <a:pt x="0" y="277095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B9DD42E4-01C5-2E18-3A40-072EA6EC5E83}"/>
              </a:ext>
            </a:extLst>
          </p:cNvPr>
          <p:cNvSpPr txBox="1"/>
          <p:nvPr/>
        </p:nvSpPr>
        <p:spPr>
          <a:xfrm>
            <a:off x="256032" y="6448425"/>
            <a:ext cx="4396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OF AI&amp;ML, VKIT</a:t>
            </a:r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F2BA1D98-ED7C-42F7-FA48-13F8050515C4}"/>
              </a:ext>
            </a:extLst>
          </p:cNvPr>
          <p:cNvSpPr txBox="1"/>
          <p:nvPr/>
        </p:nvSpPr>
        <p:spPr>
          <a:xfrm>
            <a:off x="10020063" y="6474341"/>
            <a:ext cx="2314988" cy="2491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70"/>
              </a:lnSpc>
              <a:spcBef>
                <a:spcPct val="0"/>
              </a:spcBef>
            </a:pPr>
            <a:r>
              <a:rPr lang="en-US" sz="1725" spc="86" dirty="0">
                <a:solidFill>
                  <a:srgbClr val="FFFFFF"/>
                </a:solidFill>
                <a:latin typeface="Lato Bold"/>
              </a:rPr>
              <a:t>https://vitb.ac.in/</a:t>
            </a:r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1BAB4F65-18CE-D9C2-7A94-668F4A413F8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9883567" y="6426200"/>
            <a:ext cx="317500" cy="317500"/>
          </a:xfrm>
          <a:prstGeom prst="rect">
            <a:avLst/>
          </a:prstGeom>
        </p:spPr>
      </p:pic>
      <p:pic>
        <p:nvPicPr>
          <p:cNvPr id="8" name="Picture 6">
            <a:extLst>
              <a:ext uri="{FF2B5EF4-FFF2-40B4-BE49-F238E27FC236}">
                <a16:creationId xmlns:a16="http://schemas.microsoft.com/office/drawing/2014/main" id="{7342B2AF-9D02-E897-41F9-BD07B7F6B8A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9512253" y="6426200"/>
            <a:ext cx="317500" cy="317500"/>
          </a:xfrm>
          <a:prstGeom prst="rect">
            <a:avLst/>
          </a:prstGeom>
        </p:spPr>
      </p:pic>
      <p:pic>
        <p:nvPicPr>
          <p:cNvPr id="9" name="Picture 5">
            <a:extLst>
              <a:ext uri="{FF2B5EF4-FFF2-40B4-BE49-F238E27FC236}">
                <a16:creationId xmlns:a16="http://schemas.microsoft.com/office/drawing/2014/main" id="{4E45BDCD-6382-2586-FEDB-ECDA4BDB31E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9119414" y="6426200"/>
            <a:ext cx="317500" cy="317500"/>
          </a:xfrm>
          <a:prstGeom prst="rect">
            <a:avLst/>
          </a:prstGeom>
        </p:spPr>
      </p:pic>
      <p:pic>
        <p:nvPicPr>
          <p:cNvPr id="10" name="Picture 4">
            <a:extLst>
              <a:ext uri="{FF2B5EF4-FFF2-40B4-BE49-F238E27FC236}">
                <a16:creationId xmlns:a16="http://schemas.microsoft.com/office/drawing/2014/main" id="{D869F5C7-1811-8512-7F11-7973BECBE5F0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>
          <a:xfrm>
            <a:off x="8726575" y="6426200"/>
            <a:ext cx="317500" cy="317500"/>
          </a:xfrm>
          <a:prstGeom prst="rect">
            <a:avLst/>
          </a:prstGeom>
        </p:spPr>
      </p:pic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ACD7B64A-E985-9629-5C1E-3FA5D091A1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0410849"/>
              </p:ext>
            </p:extLst>
          </p:nvPr>
        </p:nvGraphicFramePr>
        <p:xfrm>
          <a:off x="256031" y="1177159"/>
          <a:ext cx="11652190" cy="49002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0438">
                  <a:extLst>
                    <a:ext uri="{9D8B030D-6E8A-4147-A177-3AD203B41FA5}">
                      <a16:colId xmlns:a16="http://schemas.microsoft.com/office/drawing/2014/main" val="513438048"/>
                    </a:ext>
                  </a:extLst>
                </a:gridCol>
                <a:gridCol w="2330438">
                  <a:extLst>
                    <a:ext uri="{9D8B030D-6E8A-4147-A177-3AD203B41FA5}">
                      <a16:colId xmlns:a16="http://schemas.microsoft.com/office/drawing/2014/main" val="2641967713"/>
                    </a:ext>
                  </a:extLst>
                </a:gridCol>
                <a:gridCol w="2330438">
                  <a:extLst>
                    <a:ext uri="{9D8B030D-6E8A-4147-A177-3AD203B41FA5}">
                      <a16:colId xmlns:a16="http://schemas.microsoft.com/office/drawing/2014/main" val="1510769062"/>
                    </a:ext>
                  </a:extLst>
                </a:gridCol>
                <a:gridCol w="2330438">
                  <a:extLst>
                    <a:ext uri="{9D8B030D-6E8A-4147-A177-3AD203B41FA5}">
                      <a16:colId xmlns:a16="http://schemas.microsoft.com/office/drawing/2014/main" val="1943579358"/>
                    </a:ext>
                  </a:extLst>
                </a:gridCol>
                <a:gridCol w="2330438">
                  <a:extLst>
                    <a:ext uri="{9D8B030D-6E8A-4147-A177-3AD203B41FA5}">
                      <a16:colId xmlns:a16="http://schemas.microsoft.com/office/drawing/2014/main" val="3740986500"/>
                    </a:ext>
                  </a:extLst>
                </a:gridCol>
              </a:tblGrid>
              <a:tr h="240311">
                <a:tc>
                  <a:txBody>
                    <a:bodyPr/>
                    <a:lstStyle/>
                    <a:p>
                      <a:r>
                        <a:rPr lang="en-IN" sz="1200" b="1" dirty="0"/>
                        <a:t>Author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b="1"/>
                        <a:t>Paper Title</a:t>
                      </a:r>
                      <a:endParaRPr lang="en-I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b="1"/>
                        <a:t>Objective</a:t>
                      </a:r>
                      <a:endParaRPr lang="en-I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b="1"/>
                        <a:t>Methodology</a:t>
                      </a:r>
                      <a:endParaRPr lang="en-I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b="1"/>
                        <a:t>Outcome</a:t>
                      </a:r>
                      <a:endParaRPr lang="en-IN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020752"/>
                  </a:ext>
                </a:extLst>
              </a:tr>
              <a:tr h="961242"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Sultani et al., [2024]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Real-World Anomaly Detection in Surveillance Videos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develop an anomaly detection model trained using weakly labeled real-world surveillance data.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Multiple Instance Learning (MIL) with CNN feature extraction from video segments.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Achieves high anomaly detection accuracy on UCF-Crime with weak label learning.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8038804"/>
                  </a:ext>
                </a:extLst>
              </a:tr>
              <a:tr h="961242"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Liu et al., [2024]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Future Frame Prediction for Video Anomaly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detect anomalies by predicting future video frames and comparing them with actual frames.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Utilizes GAN + U-Net based predictive spatio-temporal network.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Effectively detects anomalies based on prediction deviation.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608603"/>
                  </a:ext>
                </a:extLst>
              </a:tr>
              <a:tr h="781009"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Hasan et al., [2024]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Learning Temporal Regularity in Video Sequences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learn normal temporal patterns where deviations indicate anomalies.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deep autoencoder for reconstruction of normal frames.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strong unsupervised anomaly detection for regular environments.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2814938"/>
                  </a:ext>
                </a:extLst>
              </a:tr>
              <a:tr h="961242">
                <a:tc>
                  <a:txBody>
                    <a:bodyPr/>
                    <a:lstStyle/>
                    <a:p>
                      <a:r>
                        <a:rPr lang="en-IN" sz="12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Sabokrou</a:t>
                      </a:r>
                      <a:r>
                        <a:rPr lang="en-IN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al., [2023]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Deep-Anomaly: Fully Convolutional Network for Fast Anomaly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design a lightweight and fast anomaly detection model.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Fully Convolutional Network (FCN) for direct anomaly detection.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Enables real-time anomaly detection suitable for DVR and edge devices.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8119098"/>
                  </a:ext>
                </a:extLst>
              </a:tr>
              <a:tr h="961242"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Vu et al., [2023]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Context-aware Anomaly Detection in Surveillance Videos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enhance detection using contextual scene understanding.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Applies attention-based CNNs with context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modeling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 environment-object relations.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Improves detection accuracy in complex, dynamic backgrounds.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91750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61136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02E3349-5DA5-1F31-DE2D-549902E85F5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8" t="6458" r="666" b="6557"/>
          <a:stretch/>
        </p:blipFill>
        <p:spPr>
          <a:xfrm>
            <a:off x="0" y="-15722"/>
            <a:ext cx="12192000" cy="955522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E8C81C03-75DB-9437-2BA0-90A37649AE10}"/>
              </a:ext>
            </a:extLst>
          </p:cNvPr>
          <p:cNvGrpSpPr/>
          <p:nvPr/>
        </p:nvGrpSpPr>
        <p:grpSpPr>
          <a:xfrm>
            <a:off x="0" y="6416831"/>
            <a:ext cx="12192000" cy="546100"/>
            <a:chOff x="0" y="0"/>
            <a:chExt cx="6186311" cy="277095"/>
          </a:xfrm>
          <a:solidFill>
            <a:srgbClr val="FFC000"/>
          </a:solidFill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A50F20CC-56B6-4773-C045-8B5DBB792589}"/>
                </a:ext>
              </a:extLst>
            </p:cNvPr>
            <p:cNvSpPr/>
            <p:nvPr/>
          </p:nvSpPr>
          <p:spPr>
            <a:xfrm>
              <a:off x="0" y="0"/>
              <a:ext cx="6186311" cy="277095"/>
            </a:xfrm>
            <a:custGeom>
              <a:avLst/>
              <a:gdLst/>
              <a:ahLst/>
              <a:cxnLst/>
              <a:rect l="l" t="t" r="r" b="b"/>
              <a:pathLst>
                <a:path w="6186311" h="277095">
                  <a:moveTo>
                    <a:pt x="0" y="0"/>
                  </a:moveTo>
                  <a:lnTo>
                    <a:pt x="6186311" y="0"/>
                  </a:lnTo>
                  <a:lnTo>
                    <a:pt x="6186311" y="277095"/>
                  </a:lnTo>
                  <a:lnTo>
                    <a:pt x="0" y="277095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B9DD42E4-01C5-2E18-3A40-072EA6EC5E83}"/>
              </a:ext>
            </a:extLst>
          </p:cNvPr>
          <p:cNvSpPr txBox="1"/>
          <p:nvPr/>
        </p:nvSpPr>
        <p:spPr>
          <a:xfrm>
            <a:off x="256032" y="6448425"/>
            <a:ext cx="4396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OF AI&amp;ML, VKIT</a:t>
            </a:r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F2BA1D98-ED7C-42F7-FA48-13F8050515C4}"/>
              </a:ext>
            </a:extLst>
          </p:cNvPr>
          <p:cNvSpPr txBox="1"/>
          <p:nvPr/>
        </p:nvSpPr>
        <p:spPr>
          <a:xfrm>
            <a:off x="10020063" y="6474341"/>
            <a:ext cx="2314988" cy="2491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70"/>
              </a:lnSpc>
              <a:spcBef>
                <a:spcPct val="0"/>
              </a:spcBef>
            </a:pPr>
            <a:r>
              <a:rPr lang="en-US" sz="1725" spc="86" dirty="0">
                <a:solidFill>
                  <a:srgbClr val="FFFFFF"/>
                </a:solidFill>
                <a:latin typeface="Lato Bold"/>
              </a:rPr>
              <a:t>https://vitb.ac.in/</a:t>
            </a:r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1BAB4F65-18CE-D9C2-7A94-668F4A413F8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9883567" y="6426200"/>
            <a:ext cx="317500" cy="317500"/>
          </a:xfrm>
          <a:prstGeom prst="rect">
            <a:avLst/>
          </a:prstGeom>
        </p:spPr>
      </p:pic>
      <p:pic>
        <p:nvPicPr>
          <p:cNvPr id="8" name="Picture 6">
            <a:extLst>
              <a:ext uri="{FF2B5EF4-FFF2-40B4-BE49-F238E27FC236}">
                <a16:creationId xmlns:a16="http://schemas.microsoft.com/office/drawing/2014/main" id="{7342B2AF-9D02-E897-41F9-BD07B7F6B8A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9512253" y="6426200"/>
            <a:ext cx="317500" cy="317500"/>
          </a:xfrm>
          <a:prstGeom prst="rect">
            <a:avLst/>
          </a:prstGeom>
        </p:spPr>
      </p:pic>
      <p:pic>
        <p:nvPicPr>
          <p:cNvPr id="9" name="Picture 5">
            <a:extLst>
              <a:ext uri="{FF2B5EF4-FFF2-40B4-BE49-F238E27FC236}">
                <a16:creationId xmlns:a16="http://schemas.microsoft.com/office/drawing/2014/main" id="{4E45BDCD-6382-2586-FEDB-ECDA4BDB31E8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>
            <a:off x="9119414" y="6426200"/>
            <a:ext cx="317500" cy="317500"/>
          </a:xfrm>
          <a:prstGeom prst="rect">
            <a:avLst/>
          </a:prstGeom>
        </p:spPr>
      </p:pic>
      <p:pic>
        <p:nvPicPr>
          <p:cNvPr id="10" name="Picture 4">
            <a:extLst>
              <a:ext uri="{FF2B5EF4-FFF2-40B4-BE49-F238E27FC236}">
                <a16:creationId xmlns:a16="http://schemas.microsoft.com/office/drawing/2014/main" id="{D869F5C7-1811-8512-7F11-7973BECBE5F0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>
            <a:fillRect/>
          </a:stretch>
        </p:blipFill>
        <p:spPr>
          <a:xfrm>
            <a:off x="8726575" y="6426200"/>
            <a:ext cx="317500" cy="317500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F1C5D4F-332E-34DC-F319-EF276327A4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2431885"/>
              </p:ext>
            </p:extLst>
          </p:nvPr>
        </p:nvGraphicFramePr>
        <p:xfrm>
          <a:off x="388883" y="1072055"/>
          <a:ext cx="11298620" cy="52311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9724">
                  <a:extLst>
                    <a:ext uri="{9D8B030D-6E8A-4147-A177-3AD203B41FA5}">
                      <a16:colId xmlns:a16="http://schemas.microsoft.com/office/drawing/2014/main" val="2227289609"/>
                    </a:ext>
                  </a:extLst>
                </a:gridCol>
                <a:gridCol w="2259724">
                  <a:extLst>
                    <a:ext uri="{9D8B030D-6E8A-4147-A177-3AD203B41FA5}">
                      <a16:colId xmlns:a16="http://schemas.microsoft.com/office/drawing/2014/main" val="3087509697"/>
                    </a:ext>
                  </a:extLst>
                </a:gridCol>
                <a:gridCol w="2259724">
                  <a:extLst>
                    <a:ext uri="{9D8B030D-6E8A-4147-A177-3AD203B41FA5}">
                      <a16:colId xmlns:a16="http://schemas.microsoft.com/office/drawing/2014/main" val="3009192962"/>
                    </a:ext>
                  </a:extLst>
                </a:gridCol>
                <a:gridCol w="2259724">
                  <a:extLst>
                    <a:ext uri="{9D8B030D-6E8A-4147-A177-3AD203B41FA5}">
                      <a16:colId xmlns:a16="http://schemas.microsoft.com/office/drawing/2014/main" val="988178451"/>
                    </a:ext>
                  </a:extLst>
                </a:gridCol>
                <a:gridCol w="2259724">
                  <a:extLst>
                    <a:ext uri="{9D8B030D-6E8A-4147-A177-3AD203B41FA5}">
                      <a16:colId xmlns:a16="http://schemas.microsoft.com/office/drawing/2014/main" val="91814614"/>
                    </a:ext>
                  </a:extLst>
                </a:gridCol>
              </a:tblGrid>
              <a:tr h="871866"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Outcome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610181"/>
                  </a:ext>
                </a:extLst>
              </a:tr>
              <a:tr h="871866"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Ionescu et al., [2023]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Object-Centric Autoencoders for Video Anomaly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detect anomalies by modeling object-level behavior.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Combines object detection with object-specific autoencoder reconstruction.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Achieves higher accuracy for anomalies involving specific objects or interactions.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9589707"/>
                  </a:ext>
                </a:extLst>
              </a:tr>
              <a:tr h="871866"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Ramachandra &amp; Jones, [2023]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Anomaly Detection in Streaming Surveillance Video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detect anomalies in streaming video with low latency.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an online deep learning model that updates continuously during video processing.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Supports real-time viewing and DVR-based live monitoring.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3512646"/>
                  </a:ext>
                </a:extLst>
              </a:tr>
              <a:tr h="871866"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Morais et al., [2022]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Learning Motion Patterns for Anomaly Detection in Crowded Scenes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detect anomalies in dense and crowded environments.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optical flow features with LSTM-based temporal modeling.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Effective in crowded scenes like malls, stations, and public places.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6643418"/>
                  </a:ext>
                </a:extLst>
              </a:tr>
              <a:tr h="871866"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Lee et al., [2022]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Spatio-Temporal Transformer for Video Anomaly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capture long-range spatial and temporal dependencies.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Vision Transformer (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ViT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combined with temporal attention modules.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Outperforms CNN-based models in long-sequence anomaly detection.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1238839"/>
                  </a:ext>
                </a:extLst>
              </a:tr>
              <a:tr h="871866"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Huang et al., [2021]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Track Any Anomalous Object: A Granular Video Anomaly Detection Pipeline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provide pixel, object, and frame-level anomaly detection.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Integrates segmentation, tracking, and anomaly scoring in a unified pipeline.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Achieves state-of-the-art anomaly localization, ideal for DVR automation.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6162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23415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2">
            <a:extLst>
              <a:ext uri="{FF2B5EF4-FFF2-40B4-BE49-F238E27FC236}">
                <a16:creationId xmlns:a16="http://schemas.microsoft.com/office/drawing/2014/main" id="{C2A77CD9-6D01-A8DB-C66D-BF03B69941D6}"/>
              </a:ext>
            </a:extLst>
          </p:cNvPr>
          <p:cNvGrpSpPr/>
          <p:nvPr/>
        </p:nvGrpSpPr>
        <p:grpSpPr>
          <a:xfrm>
            <a:off x="0" y="6392367"/>
            <a:ext cx="12192000" cy="546100"/>
            <a:chOff x="0" y="0"/>
            <a:chExt cx="6186311" cy="277095"/>
          </a:xfrm>
          <a:solidFill>
            <a:srgbClr val="FFC000"/>
          </a:solidFill>
        </p:grpSpPr>
        <p:sp>
          <p:nvSpPr>
            <p:cNvPr id="20" name="Freeform 3">
              <a:extLst>
                <a:ext uri="{FF2B5EF4-FFF2-40B4-BE49-F238E27FC236}">
                  <a16:creationId xmlns:a16="http://schemas.microsoft.com/office/drawing/2014/main" id="{78297845-B487-3D71-6C3A-180D740BEF2A}"/>
                </a:ext>
              </a:extLst>
            </p:cNvPr>
            <p:cNvSpPr/>
            <p:nvPr/>
          </p:nvSpPr>
          <p:spPr>
            <a:xfrm>
              <a:off x="0" y="0"/>
              <a:ext cx="6186311" cy="277095"/>
            </a:xfrm>
            <a:custGeom>
              <a:avLst/>
              <a:gdLst/>
              <a:ahLst/>
              <a:cxnLst/>
              <a:rect l="l" t="t" r="r" b="b"/>
              <a:pathLst>
                <a:path w="6186311" h="277095">
                  <a:moveTo>
                    <a:pt x="0" y="0"/>
                  </a:moveTo>
                  <a:lnTo>
                    <a:pt x="6186311" y="0"/>
                  </a:lnTo>
                  <a:lnTo>
                    <a:pt x="6186311" y="277095"/>
                  </a:lnTo>
                  <a:lnTo>
                    <a:pt x="0" y="277095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5BF16DE-C2ED-E5FA-FED5-20411081BC54}"/>
              </a:ext>
            </a:extLst>
          </p:cNvPr>
          <p:cNvCxnSpPr/>
          <p:nvPr/>
        </p:nvCxnSpPr>
        <p:spPr>
          <a:xfrm>
            <a:off x="0" y="939800"/>
            <a:ext cx="12192000" cy="105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4">
            <a:extLst>
              <a:ext uri="{FF2B5EF4-FFF2-40B4-BE49-F238E27FC236}">
                <a16:creationId xmlns:a16="http://schemas.microsoft.com/office/drawing/2014/main" id="{A38916BD-2F6C-8C5C-69F1-20EF826FFC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8726575" y="6426200"/>
            <a:ext cx="317500" cy="317500"/>
          </a:xfrm>
          <a:prstGeom prst="rect">
            <a:avLst/>
          </a:prstGeom>
        </p:spPr>
      </p:pic>
      <p:pic>
        <p:nvPicPr>
          <p:cNvPr id="27" name="Picture 5">
            <a:extLst>
              <a:ext uri="{FF2B5EF4-FFF2-40B4-BE49-F238E27FC236}">
                <a16:creationId xmlns:a16="http://schemas.microsoft.com/office/drawing/2014/main" id="{C0CB9FD8-D8C9-4709-8349-C8C9267E832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9119414" y="6426200"/>
            <a:ext cx="317500" cy="317500"/>
          </a:xfrm>
          <a:prstGeom prst="rect">
            <a:avLst/>
          </a:prstGeom>
        </p:spPr>
      </p:pic>
      <p:pic>
        <p:nvPicPr>
          <p:cNvPr id="28" name="Picture 6">
            <a:extLst>
              <a:ext uri="{FF2B5EF4-FFF2-40B4-BE49-F238E27FC236}">
                <a16:creationId xmlns:a16="http://schemas.microsoft.com/office/drawing/2014/main" id="{DB4FE3B4-BB90-79D8-EB65-C10A428A39D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9512253" y="6426200"/>
            <a:ext cx="317500" cy="317500"/>
          </a:xfrm>
          <a:prstGeom prst="rect">
            <a:avLst/>
          </a:prstGeom>
        </p:spPr>
      </p:pic>
      <p:pic>
        <p:nvPicPr>
          <p:cNvPr id="29" name="Picture 7">
            <a:extLst>
              <a:ext uri="{FF2B5EF4-FFF2-40B4-BE49-F238E27FC236}">
                <a16:creationId xmlns:a16="http://schemas.microsoft.com/office/drawing/2014/main" id="{6BEDBDB7-0B57-60B5-B67A-1FA0861D1DA9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>
          <a:xfrm>
            <a:off x="9883567" y="6426200"/>
            <a:ext cx="317500" cy="317500"/>
          </a:xfrm>
          <a:prstGeom prst="rect">
            <a:avLst/>
          </a:prstGeom>
        </p:spPr>
      </p:pic>
      <p:sp>
        <p:nvSpPr>
          <p:cNvPr id="30" name="TextBox 8">
            <a:extLst>
              <a:ext uri="{FF2B5EF4-FFF2-40B4-BE49-F238E27FC236}">
                <a16:creationId xmlns:a16="http://schemas.microsoft.com/office/drawing/2014/main" id="{BDC56BF2-92F3-3F12-F910-2816DF452EE8}"/>
              </a:ext>
            </a:extLst>
          </p:cNvPr>
          <p:cNvSpPr txBox="1"/>
          <p:nvPr/>
        </p:nvSpPr>
        <p:spPr>
          <a:xfrm>
            <a:off x="10201067" y="6448425"/>
            <a:ext cx="1990933" cy="2490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70"/>
              </a:lnSpc>
              <a:spcBef>
                <a:spcPct val="0"/>
              </a:spcBef>
            </a:pPr>
            <a:r>
              <a:rPr lang="en-US" sz="1725" spc="86" dirty="0">
                <a:solidFill>
                  <a:srgbClr val="FFFFFF"/>
                </a:solidFill>
                <a:latin typeface="Lato Bold"/>
              </a:rPr>
              <a:t>https://vitb.ac.in/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7C11B58-EB3F-0722-64C6-6988DC42213F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8" t="6458" r="666" b="6557"/>
          <a:stretch/>
        </p:blipFill>
        <p:spPr>
          <a:xfrm>
            <a:off x="0" y="-15722"/>
            <a:ext cx="12192000" cy="955522"/>
          </a:xfrm>
          <a:prstGeom prst="rect">
            <a:avLst/>
          </a:prstGeom>
        </p:spPr>
      </p:pic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60360352-8E76-E4C8-46BE-2F99AF88A637}"/>
              </a:ext>
            </a:extLst>
          </p:cNvPr>
          <p:cNvSpPr txBox="1">
            <a:spLocks/>
          </p:cNvSpPr>
          <p:nvPr/>
        </p:nvSpPr>
        <p:spPr>
          <a:xfrm>
            <a:off x="123825" y="1026160"/>
            <a:ext cx="11383645" cy="504444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7A8822-82B9-55D4-8B4C-4F03C3DA2137}"/>
              </a:ext>
            </a:extLst>
          </p:cNvPr>
          <p:cNvSpPr txBox="1"/>
          <p:nvPr/>
        </p:nvSpPr>
        <p:spPr>
          <a:xfrm>
            <a:off x="256032" y="2021854"/>
            <a:ext cx="11892610" cy="2535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Eliminate manual check-in/check-out processes through automated face recognition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easy playback, search, and backup of recorded footage using timestamps or motion events.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intuitive web-based dashboard accessible from any device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advanced models such as YOLOv8 to detect and track individuals with high accuracy.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enable intelligent content recognition and classification for automated decision-making.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9A3A04-681F-08BF-6B31-8595D34351AD}"/>
              </a:ext>
            </a:extLst>
          </p:cNvPr>
          <p:cNvSpPr txBox="1"/>
          <p:nvPr/>
        </p:nvSpPr>
        <p:spPr>
          <a:xfrm>
            <a:off x="256032" y="6448425"/>
            <a:ext cx="4396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OF AI&amp;ML, VKIT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BD5571-B822-670B-C4DC-924F8BEB47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FB1F66-E590-F20B-3C4F-416631109264}"/>
              </a:ext>
            </a:extLst>
          </p:cNvPr>
          <p:cNvSpPr txBox="1"/>
          <p:nvPr/>
        </p:nvSpPr>
        <p:spPr>
          <a:xfrm>
            <a:off x="264816" y="1176867"/>
            <a:ext cx="54332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02252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7BEE9FE-E9E8-3246-E682-28AB608FD82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8" t="6458" r="666" b="6557"/>
          <a:stretch/>
        </p:blipFill>
        <p:spPr>
          <a:xfrm>
            <a:off x="0" y="-15722"/>
            <a:ext cx="12192000" cy="955522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D39CAE1E-08B3-C6F0-6932-9BE233AC699A}"/>
              </a:ext>
            </a:extLst>
          </p:cNvPr>
          <p:cNvGrpSpPr/>
          <p:nvPr/>
        </p:nvGrpSpPr>
        <p:grpSpPr>
          <a:xfrm>
            <a:off x="0" y="6360041"/>
            <a:ext cx="12192000" cy="546100"/>
            <a:chOff x="0" y="0"/>
            <a:chExt cx="6186311" cy="277095"/>
          </a:xfrm>
          <a:solidFill>
            <a:srgbClr val="FFC000"/>
          </a:solidFill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D991E29B-41E8-8E28-5753-54B6B277A959}"/>
                </a:ext>
              </a:extLst>
            </p:cNvPr>
            <p:cNvSpPr/>
            <p:nvPr/>
          </p:nvSpPr>
          <p:spPr>
            <a:xfrm>
              <a:off x="0" y="0"/>
              <a:ext cx="6186311" cy="277095"/>
            </a:xfrm>
            <a:custGeom>
              <a:avLst/>
              <a:gdLst/>
              <a:ahLst/>
              <a:cxnLst/>
              <a:rect l="l" t="t" r="r" b="b"/>
              <a:pathLst>
                <a:path w="6186311" h="277095">
                  <a:moveTo>
                    <a:pt x="0" y="0"/>
                  </a:moveTo>
                  <a:lnTo>
                    <a:pt x="6186311" y="0"/>
                  </a:lnTo>
                  <a:lnTo>
                    <a:pt x="6186311" y="277095"/>
                  </a:lnTo>
                  <a:lnTo>
                    <a:pt x="0" y="277095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3621E6D3-FE50-1416-44A3-3986ED21BA59}"/>
              </a:ext>
            </a:extLst>
          </p:cNvPr>
          <p:cNvSpPr txBox="1"/>
          <p:nvPr/>
        </p:nvSpPr>
        <p:spPr>
          <a:xfrm>
            <a:off x="256032" y="6448425"/>
            <a:ext cx="4396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OF AI&amp;ML, VKIT</a:t>
            </a: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599405DA-4123-0AD1-06D8-8F0C4CE0C8E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8475695" y="6448425"/>
            <a:ext cx="391557" cy="391557"/>
          </a:xfrm>
          <a:prstGeom prst="rect">
            <a:avLst/>
          </a:prstGeom>
        </p:spPr>
      </p:pic>
      <p:pic>
        <p:nvPicPr>
          <p:cNvPr id="7" name="Picture 5">
            <a:extLst>
              <a:ext uri="{FF2B5EF4-FFF2-40B4-BE49-F238E27FC236}">
                <a16:creationId xmlns:a16="http://schemas.microsoft.com/office/drawing/2014/main" id="{59436728-8CD2-3702-5D44-58823CB2688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8986939" y="6462055"/>
            <a:ext cx="317500" cy="317500"/>
          </a:xfrm>
          <a:prstGeom prst="rect">
            <a:avLst/>
          </a:prstGeom>
        </p:spPr>
      </p:pic>
      <p:pic>
        <p:nvPicPr>
          <p:cNvPr id="8" name="Picture 6">
            <a:extLst>
              <a:ext uri="{FF2B5EF4-FFF2-40B4-BE49-F238E27FC236}">
                <a16:creationId xmlns:a16="http://schemas.microsoft.com/office/drawing/2014/main" id="{9AFAEBFC-2BF3-75F6-CEDB-CE705CD9752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9424126" y="6500257"/>
            <a:ext cx="317500" cy="317500"/>
          </a:xfrm>
          <a:prstGeom prst="rect">
            <a:avLst/>
          </a:prstGeom>
        </p:spPr>
      </p:pic>
      <p:pic>
        <p:nvPicPr>
          <p:cNvPr id="9" name="Picture 7">
            <a:extLst>
              <a:ext uri="{FF2B5EF4-FFF2-40B4-BE49-F238E27FC236}">
                <a16:creationId xmlns:a16="http://schemas.microsoft.com/office/drawing/2014/main" id="{9D13C768-993E-6DA9-F259-4861676A50C0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>
          <a:xfrm>
            <a:off x="9855875" y="6500257"/>
            <a:ext cx="317500" cy="317500"/>
          </a:xfrm>
          <a:prstGeom prst="rect">
            <a:avLst/>
          </a:prstGeom>
        </p:spPr>
      </p:pic>
      <p:sp>
        <p:nvSpPr>
          <p:cNvPr id="10" name="TextBox 8">
            <a:extLst>
              <a:ext uri="{FF2B5EF4-FFF2-40B4-BE49-F238E27FC236}">
                <a16:creationId xmlns:a16="http://schemas.microsoft.com/office/drawing/2014/main" id="{A2165AF4-F172-CA9A-56AE-E6A617213224}"/>
              </a:ext>
            </a:extLst>
          </p:cNvPr>
          <p:cNvSpPr txBox="1"/>
          <p:nvPr/>
        </p:nvSpPr>
        <p:spPr>
          <a:xfrm>
            <a:off x="10020063" y="6474341"/>
            <a:ext cx="2314988" cy="2491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70"/>
              </a:lnSpc>
              <a:spcBef>
                <a:spcPct val="0"/>
              </a:spcBef>
            </a:pPr>
            <a:r>
              <a:rPr lang="en-US" sz="1725" spc="86" dirty="0">
                <a:solidFill>
                  <a:srgbClr val="FFFFFF"/>
                </a:solidFill>
                <a:latin typeface="Lato Bold"/>
              </a:rPr>
              <a:t>https://vitb.ac.in/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4D2C74-16BE-0F46-7F98-1A257E043CB9}"/>
              </a:ext>
            </a:extLst>
          </p:cNvPr>
          <p:cNvSpPr txBox="1"/>
          <p:nvPr/>
        </p:nvSpPr>
        <p:spPr>
          <a:xfrm>
            <a:off x="373294" y="939800"/>
            <a:ext cx="11445411" cy="6473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CONTRIBUTIONS</a:t>
            </a:r>
          </a:p>
          <a:p>
            <a:pPr marL="269875" marR="0" lvl="0" indent="-269875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Predictive Maintenance: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Predicting potential system failures, storage issues or component malfunctions using DVR-collected data and Machine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earning algorithms. </a:t>
            </a:r>
          </a:p>
          <a:p>
            <a:pPr marL="269875" marR="0" lvl="0" indent="-269875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Optimized Data Management: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Improving storage allocation, data retention policies and retrieval efficiency using DVR-collected data and analytics. The optimization of surveillance and security protocols is done through automated identification of anomalies, suspicious activities and predefined events using DVR-collected data. </a:t>
            </a:r>
          </a:p>
          <a:p>
            <a:pPr algn="just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 Intelligent Event Detection: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identify intrusion, loitering, abandoned objects, and arson using advanced</a:t>
            </a:r>
          </a:p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AI, models for enhanced real-time surveillance.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 Scalable &amp; Modular Design: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future upgrades, additional cameras, cloud storage, and new AI modules with a       </a:t>
            </a:r>
          </a:p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flexible and extendable architecture.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Storage Management: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automatically removes useless or repeated videos and saves only the important ones. This improves storage efficiency and reduces hardware load.</a:t>
            </a:r>
          </a:p>
          <a:p>
            <a:pPr algn="just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kumimoji="0" lang="en-US" altLang="en-US" sz="18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9875" marR="0" lvl="0" indent="-269875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18910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2">
            <a:extLst>
              <a:ext uri="{FF2B5EF4-FFF2-40B4-BE49-F238E27FC236}">
                <a16:creationId xmlns:a16="http://schemas.microsoft.com/office/drawing/2014/main" id="{C2A77CD9-6D01-A8DB-C66D-BF03B69941D6}"/>
              </a:ext>
            </a:extLst>
          </p:cNvPr>
          <p:cNvGrpSpPr/>
          <p:nvPr/>
        </p:nvGrpSpPr>
        <p:grpSpPr>
          <a:xfrm>
            <a:off x="0" y="6311900"/>
            <a:ext cx="12192000" cy="546100"/>
            <a:chOff x="0" y="0"/>
            <a:chExt cx="6186311" cy="277095"/>
          </a:xfrm>
          <a:solidFill>
            <a:srgbClr val="FFC000"/>
          </a:solidFill>
        </p:grpSpPr>
        <p:sp>
          <p:nvSpPr>
            <p:cNvPr id="20" name="Freeform 3">
              <a:extLst>
                <a:ext uri="{FF2B5EF4-FFF2-40B4-BE49-F238E27FC236}">
                  <a16:creationId xmlns:a16="http://schemas.microsoft.com/office/drawing/2014/main" id="{78297845-B487-3D71-6C3A-180D740BEF2A}"/>
                </a:ext>
              </a:extLst>
            </p:cNvPr>
            <p:cNvSpPr/>
            <p:nvPr/>
          </p:nvSpPr>
          <p:spPr>
            <a:xfrm>
              <a:off x="0" y="0"/>
              <a:ext cx="6186311" cy="277095"/>
            </a:xfrm>
            <a:custGeom>
              <a:avLst/>
              <a:gdLst/>
              <a:ahLst/>
              <a:cxnLst/>
              <a:rect l="l" t="t" r="r" b="b"/>
              <a:pathLst>
                <a:path w="6186311" h="277095">
                  <a:moveTo>
                    <a:pt x="0" y="0"/>
                  </a:moveTo>
                  <a:lnTo>
                    <a:pt x="6186311" y="0"/>
                  </a:lnTo>
                  <a:lnTo>
                    <a:pt x="6186311" y="277095"/>
                  </a:lnTo>
                  <a:lnTo>
                    <a:pt x="0" y="277095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5BF16DE-C2ED-E5FA-FED5-20411081BC54}"/>
              </a:ext>
            </a:extLst>
          </p:cNvPr>
          <p:cNvCxnSpPr/>
          <p:nvPr/>
        </p:nvCxnSpPr>
        <p:spPr>
          <a:xfrm>
            <a:off x="0" y="939800"/>
            <a:ext cx="12192000" cy="105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4">
            <a:extLst>
              <a:ext uri="{FF2B5EF4-FFF2-40B4-BE49-F238E27FC236}">
                <a16:creationId xmlns:a16="http://schemas.microsoft.com/office/drawing/2014/main" id="{A38916BD-2F6C-8C5C-69F1-20EF826FFCF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8726575" y="6426200"/>
            <a:ext cx="317500" cy="317500"/>
          </a:xfrm>
          <a:prstGeom prst="rect">
            <a:avLst/>
          </a:prstGeom>
        </p:spPr>
      </p:pic>
      <p:pic>
        <p:nvPicPr>
          <p:cNvPr id="27" name="Picture 5">
            <a:extLst>
              <a:ext uri="{FF2B5EF4-FFF2-40B4-BE49-F238E27FC236}">
                <a16:creationId xmlns:a16="http://schemas.microsoft.com/office/drawing/2014/main" id="{C0CB9FD8-D8C9-4709-8349-C8C9267E832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9119414" y="6426200"/>
            <a:ext cx="317500" cy="317500"/>
          </a:xfrm>
          <a:prstGeom prst="rect">
            <a:avLst/>
          </a:prstGeom>
        </p:spPr>
      </p:pic>
      <p:pic>
        <p:nvPicPr>
          <p:cNvPr id="28" name="Picture 6">
            <a:extLst>
              <a:ext uri="{FF2B5EF4-FFF2-40B4-BE49-F238E27FC236}">
                <a16:creationId xmlns:a16="http://schemas.microsoft.com/office/drawing/2014/main" id="{DB4FE3B4-BB90-79D8-EB65-C10A428A39D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9512253" y="6426200"/>
            <a:ext cx="317500" cy="317500"/>
          </a:xfrm>
          <a:prstGeom prst="rect">
            <a:avLst/>
          </a:prstGeom>
        </p:spPr>
      </p:pic>
      <p:pic>
        <p:nvPicPr>
          <p:cNvPr id="29" name="Picture 7">
            <a:extLst>
              <a:ext uri="{FF2B5EF4-FFF2-40B4-BE49-F238E27FC236}">
                <a16:creationId xmlns:a16="http://schemas.microsoft.com/office/drawing/2014/main" id="{6BEDBDB7-0B57-60B5-B67A-1FA0861D1DA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>
            <a:off x="9883567" y="6426200"/>
            <a:ext cx="317500" cy="317500"/>
          </a:xfrm>
          <a:prstGeom prst="rect">
            <a:avLst/>
          </a:prstGeom>
        </p:spPr>
      </p:pic>
      <p:sp>
        <p:nvSpPr>
          <p:cNvPr id="30" name="TextBox 8">
            <a:extLst>
              <a:ext uri="{FF2B5EF4-FFF2-40B4-BE49-F238E27FC236}">
                <a16:creationId xmlns:a16="http://schemas.microsoft.com/office/drawing/2014/main" id="{BDC56BF2-92F3-3F12-F910-2816DF452EE8}"/>
              </a:ext>
            </a:extLst>
          </p:cNvPr>
          <p:cNvSpPr txBox="1"/>
          <p:nvPr/>
        </p:nvSpPr>
        <p:spPr>
          <a:xfrm>
            <a:off x="10201067" y="6448425"/>
            <a:ext cx="1990933" cy="2490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70"/>
              </a:lnSpc>
              <a:spcBef>
                <a:spcPct val="0"/>
              </a:spcBef>
            </a:pPr>
            <a:r>
              <a:rPr lang="en-US" sz="1725" spc="86" dirty="0">
                <a:solidFill>
                  <a:srgbClr val="FFFFFF"/>
                </a:solidFill>
                <a:latin typeface="Lato Bold"/>
              </a:rPr>
              <a:t>https://vitb.ac.in/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7C11B58-EB3F-0722-64C6-6988DC42213F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8" t="6458" r="666" b="6557"/>
          <a:stretch/>
        </p:blipFill>
        <p:spPr>
          <a:xfrm>
            <a:off x="0" y="-15722"/>
            <a:ext cx="12192000" cy="955522"/>
          </a:xfrm>
          <a:prstGeom prst="rect">
            <a:avLst/>
          </a:prstGeom>
        </p:spPr>
      </p:pic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60360352-8E76-E4C8-46BE-2F99AF88A637}"/>
              </a:ext>
            </a:extLst>
          </p:cNvPr>
          <p:cNvSpPr txBox="1">
            <a:spLocks/>
          </p:cNvSpPr>
          <p:nvPr/>
        </p:nvSpPr>
        <p:spPr>
          <a:xfrm>
            <a:off x="123825" y="1026160"/>
            <a:ext cx="11383645" cy="504444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GAPS IDENTIFIED</a:t>
            </a:r>
          </a:p>
          <a:p>
            <a:pPr marL="0" indent="0" algn="just">
              <a:buFont typeface="Arial" panose="020B0604020202020204" pitchFamily="34" charset="0"/>
              <a:buNone/>
            </a:pPr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7A8822-82B9-55D4-8B4C-4F03C3DA2137}"/>
              </a:ext>
            </a:extLst>
          </p:cNvPr>
          <p:cNvSpPr txBox="1"/>
          <p:nvPr/>
        </p:nvSpPr>
        <p:spPr>
          <a:xfrm>
            <a:off x="175565" y="1644088"/>
            <a:ext cx="11649405" cy="46129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9875" marR="0" lvl="0" indent="-269875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Integration: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Integrating DVR-collected data with existing security management systems, alarm systems, and other decision-support tools. </a:t>
            </a:r>
          </a:p>
          <a:p>
            <a:pPr marL="269875" marR="0" lvl="0" indent="-269875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Standardization: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Standardizing DVR-based data collection, event logging, and analysis protocols for diverse security applications. 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9875" marR="0" lvl="0" indent="-269875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Scalability: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Scaling up DVR automation solutions for large-scale surveillance networks with numerous cameras and recording devices. 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9875" marR="0" lvl="0" indent="-269875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Affordability: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Making advanced DVR automation solutions affordable for small to medium-sized businesses and residential users. 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9875" marR="0" lvl="0" indent="-269875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Regulatory Compliance: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Developing regulatory frameworks and compliance standards to support the use of automated DVR systems in various security and privacy contexts.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9A3A04-681F-08BF-6B31-8595D34351AD}"/>
              </a:ext>
            </a:extLst>
          </p:cNvPr>
          <p:cNvSpPr txBox="1"/>
          <p:nvPr/>
        </p:nvSpPr>
        <p:spPr>
          <a:xfrm>
            <a:off x="256032" y="6448425"/>
            <a:ext cx="4396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OF AI&amp;ML, VKIT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BD5571-B822-670B-C4DC-924F8BEB47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55273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2">
            <a:extLst>
              <a:ext uri="{FF2B5EF4-FFF2-40B4-BE49-F238E27FC236}">
                <a16:creationId xmlns:a16="http://schemas.microsoft.com/office/drawing/2014/main" id="{C2A77CD9-6D01-A8DB-C66D-BF03B69941D6}"/>
              </a:ext>
            </a:extLst>
          </p:cNvPr>
          <p:cNvGrpSpPr/>
          <p:nvPr/>
        </p:nvGrpSpPr>
        <p:grpSpPr>
          <a:xfrm>
            <a:off x="-10274" y="6320444"/>
            <a:ext cx="12192000" cy="546100"/>
            <a:chOff x="0" y="10426"/>
            <a:chExt cx="6186311" cy="277095"/>
          </a:xfrm>
          <a:solidFill>
            <a:srgbClr val="FFC000"/>
          </a:solidFill>
        </p:grpSpPr>
        <p:sp>
          <p:nvSpPr>
            <p:cNvPr id="20" name="Freeform 3">
              <a:extLst>
                <a:ext uri="{FF2B5EF4-FFF2-40B4-BE49-F238E27FC236}">
                  <a16:creationId xmlns:a16="http://schemas.microsoft.com/office/drawing/2014/main" id="{78297845-B487-3D71-6C3A-180D740BEF2A}"/>
                </a:ext>
              </a:extLst>
            </p:cNvPr>
            <p:cNvSpPr/>
            <p:nvPr/>
          </p:nvSpPr>
          <p:spPr>
            <a:xfrm>
              <a:off x="0" y="10426"/>
              <a:ext cx="6186311" cy="277095"/>
            </a:xfrm>
            <a:custGeom>
              <a:avLst/>
              <a:gdLst/>
              <a:ahLst/>
              <a:cxnLst/>
              <a:rect l="l" t="t" r="r" b="b"/>
              <a:pathLst>
                <a:path w="6186311" h="277095">
                  <a:moveTo>
                    <a:pt x="0" y="0"/>
                  </a:moveTo>
                  <a:lnTo>
                    <a:pt x="6186311" y="0"/>
                  </a:lnTo>
                  <a:lnTo>
                    <a:pt x="6186311" y="277095"/>
                  </a:lnTo>
                  <a:lnTo>
                    <a:pt x="0" y="277095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5BF16DE-C2ED-E5FA-FED5-20411081BC54}"/>
              </a:ext>
            </a:extLst>
          </p:cNvPr>
          <p:cNvCxnSpPr/>
          <p:nvPr/>
        </p:nvCxnSpPr>
        <p:spPr>
          <a:xfrm>
            <a:off x="0" y="939800"/>
            <a:ext cx="12192000" cy="105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4">
            <a:extLst>
              <a:ext uri="{FF2B5EF4-FFF2-40B4-BE49-F238E27FC236}">
                <a16:creationId xmlns:a16="http://schemas.microsoft.com/office/drawing/2014/main" id="{A38916BD-2F6C-8C5C-69F1-20EF826FFC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8726575" y="6426200"/>
            <a:ext cx="317500" cy="317500"/>
          </a:xfrm>
          <a:prstGeom prst="rect">
            <a:avLst/>
          </a:prstGeom>
        </p:spPr>
      </p:pic>
      <p:pic>
        <p:nvPicPr>
          <p:cNvPr id="27" name="Picture 5">
            <a:extLst>
              <a:ext uri="{FF2B5EF4-FFF2-40B4-BE49-F238E27FC236}">
                <a16:creationId xmlns:a16="http://schemas.microsoft.com/office/drawing/2014/main" id="{C0CB9FD8-D8C9-4709-8349-C8C9267E832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9119414" y="6426200"/>
            <a:ext cx="317500" cy="317500"/>
          </a:xfrm>
          <a:prstGeom prst="rect">
            <a:avLst/>
          </a:prstGeom>
        </p:spPr>
      </p:pic>
      <p:pic>
        <p:nvPicPr>
          <p:cNvPr id="28" name="Picture 6">
            <a:extLst>
              <a:ext uri="{FF2B5EF4-FFF2-40B4-BE49-F238E27FC236}">
                <a16:creationId xmlns:a16="http://schemas.microsoft.com/office/drawing/2014/main" id="{DB4FE3B4-BB90-79D8-EB65-C10A428A39D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9512253" y="6426200"/>
            <a:ext cx="317500" cy="317500"/>
          </a:xfrm>
          <a:prstGeom prst="rect">
            <a:avLst/>
          </a:prstGeom>
        </p:spPr>
      </p:pic>
      <p:pic>
        <p:nvPicPr>
          <p:cNvPr id="29" name="Picture 7">
            <a:extLst>
              <a:ext uri="{FF2B5EF4-FFF2-40B4-BE49-F238E27FC236}">
                <a16:creationId xmlns:a16="http://schemas.microsoft.com/office/drawing/2014/main" id="{6BEDBDB7-0B57-60B5-B67A-1FA0861D1DA9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>
          <a:xfrm>
            <a:off x="9883567" y="6426200"/>
            <a:ext cx="317500" cy="317500"/>
          </a:xfrm>
          <a:prstGeom prst="rect">
            <a:avLst/>
          </a:prstGeom>
        </p:spPr>
      </p:pic>
      <p:sp>
        <p:nvSpPr>
          <p:cNvPr id="30" name="TextBox 8">
            <a:extLst>
              <a:ext uri="{FF2B5EF4-FFF2-40B4-BE49-F238E27FC236}">
                <a16:creationId xmlns:a16="http://schemas.microsoft.com/office/drawing/2014/main" id="{BDC56BF2-92F3-3F12-F910-2816DF452EE8}"/>
              </a:ext>
            </a:extLst>
          </p:cNvPr>
          <p:cNvSpPr txBox="1"/>
          <p:nvPr/>
        </p:nvSpPr>
        <p:spPr>
          <a:xfrm>
            <a:off x="10201067" y="6448425"/>
            <a:ext cx="1990933" cy="2490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70"/>
              </a:lnSpc>
              <a:spcBef>
                <a:spcPct val="0"/>
              </a:spcBef>
            </a:pPr>
            <a:r>
              <a:rPr lang="en-US" sz="1725" spc="86" dirty="0">
                <a:solidFill>
                  <a:srgbClr val="FFFFFF"/>
                </a:solidFill>
                <a:latin typeface="Lato Bold"/>
              </a:rPr>
              <a:t>https://vitb.ac.in/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7C11B58-EB3F-0722-64C6-6988DC42213F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8" t="6458" r="666" b="6557"/>
          <a:stretch/>
        </p:blipFill>
        <p:spPr>
          <a:xfrm>
            <a:off x="0" y="-15722"/>
            <a:ext cx="12192000" cy="955522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1D36840D-6C0C-AE4D-5E8A-7ACE3C9FAF31}"/>
              </a:ext>
            </a:extLst>
          </p:cNvPr>
          <p:cNvSpPr txBox="1">
            <a:spLocks/>
          </p:cNvSpPr>
          <p:nvPr/>
        </p:nvSpPr>
        <p:spPr>
          <a:xfrm>
            <a:off x="76201" y="987661"/>
            <a:ext cx="10131425" cy="449805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119B1C-4C20-3F31-77AD-8CC76A352112}"/>
              </a:ext>
            </a:extLst>
          </p:cNvPr>
          <p:cNvSpPr txBox="1">
            <a:spLocks/>
          </p:cNvSpPr>
          <p:nvPr/>
        </p:nvSpPr>
        <p:spPr>
          <a:xfrm>
            <a:off x="190195" y="1379226"/>
            <a:ext cx="12001805" cy="488538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DVR Platform: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suitable DVR platform with reliable processing capabilities, such as a standalone DVR unit.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high-resolution camera (e.g., IP camera or analog HD camera) for capturing continuous or motion-triggered video footage.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Sensors for detecting environmental triggers, such as motion, light changes, or sound, to initiate recording events.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high-capacity hard drive or SSD for storing recorded video data securely and efficiently.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Module: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Wi-Fi or Ethernet module for enabling remote access, cloud backup, and communication with other smart devices</a:t>
            </a:r>
          </a:p>
          <a:p>
            <a:pPr>
              <a:lnSpc>
                <a:spcPct val="150000"/>
              </a:lnSpc>
            </a:pPr>
            <a:r>
              <a:rPr lang="en-IN" sz="1800" b="1" dirty="0"/>
              <a:t>Power Backup (UPS/Inverter): </a:t>
            </a:r>
            <a:r>
              <a:rPr lang="en-IN" sz="1800" dirty="0"/>
              <a:t>Ensures system stays operational during power cuts. Keeps DVR and cameras running.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8A027B-D9CC-037D-53CD-8AFBE1ED02B4}"/>
              </a:ext>
            </a:extLst>
          </p:cNvPr>
          <p:cNvSpPr txBox="1"/>
          <p:nvPr/>
        </p:nvSpPr>
        <p:spPr>
          <a:xfrm>
            <a:off x="256032" y="6448425"/>
            <a:ext cx="4396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OF AI&amp;ML, VKIT</a:t>
            </a:r>
          </a:p>
        </p:txBody>
      </p:sp>
    </p:spTree>
    <p:extLst>
      <p:ext uri="{BB962C8B-B14F-4D97-AF65-F5344CB8AC3E}">
        <p14:creationId xmlns:p14="http://schemas.microsoft.com/office/powerpoint/2010/main" val="17150847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02AE21A-CD09-99EB-FA21-CBE608431E3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8" t="6458" r="666" b="6557"/>
          <a:stretch/>
        </p:blipFill>
        <p:spPr>
          <a:xfrm>
            <a:off x="0" y="-15722"/>
            <a:ext cx="12192000" cy="955522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23480E9D-CCC4-8EE6-C997-DC1A3F12177F}"/>
              </a:ext>
            </a:extLst>
          </p:cNvPr>
          <p:cNvGrpSpPr/>
          <p:nvPr/>
        </p:nvGrpSpPr>
        <p:grpSpPr>
          <a:xfrm>
            <a:off x="-10274" y="6320444"/>
            <a:ext cx="12192000" cy="546100"/>
            <a:chOff x="0" y="10426"/>
            <a:chExt cx="6186311" cy="277095"/>
          </a:xfrm>
          <a:solidFill>
            <a:srgbClr val="FFC000"/>
          </a:solidFill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A91B7046-FA80-65D0-4D27-B54F68965B06}"/>
                </a:ext>
              </a:extLst>
            </p:cNvPr>
            <p:cNvSpPr/>
            <p:nvPr/>
          </p:nvSpPr>
          <p:spPr>
            <a:xfrm>
              <a:off x="0" y="10426"/>
              <a:ext cx="6186311" cy="277095"/>
            </a:xfrm>
            <a:custGeom>
              <a:avLst/>
              <a:gdLst/>
              <a:ahLst/>
              <a:cxnLst/>
              <a:rect l="l" t="t" r="r" b="b"/>
              <a:pathLst>
                <a:path w="6186311" h="277095">
                  <a:moveTo>
                    <a:pt x="0" y="0"/>
                  </a:moveTo>
                  <a:lnTo>
                    <a:pt x="6186311" y="0"/>
                  </a:lnTo>
                  <a:lnTo>
                    <a:pt x="6186311" y="277095"/>
                  </a:lnTo>
                  <a:lnTo>
                    <a:pt x="0" y="277095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B5CE1C39-E3CC-C026-198C-DFCFAFA352C9}"/>
              </a:ext>
            </a:extLst>
          </p:cNvPr>
          <p:cNvSpPr txBox="1"/>
          <p:nvPr/>
        </p:nvSpPr>
        <p:spPr>
          <a:xfrm>
            <a:off x="256032" y="6448425"/>
            <a:ext cx="4396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OF AI&amp;ML, VKIT</a:t>
            </a:r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3387693A-3CF1-087F-C78D-6A90F40A43B0}"/>
              </a:ext>
            </a:extLst>
          </p:cNvPr>
          <p:cNvSpPr txBox="1"/>
          <p:nvPr/>
        </p:nvSpPr>
        <p:spPr>
          <a:xfrm>
            <a:off x="10201067" y="6448425"/>
            <a:ext cx="1990933" cy="2490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70"/>
              </a:lnSpc>
              <a:spcBef>
                <a:spcPct val="0"/>
              </a:spcBef>
            </a:pPr>
            <a:r>
              <a:rPr lang="en-US" sz="1725" spc="86" dirty="0">
                <a:solidFill>
                  <a:srgbClr val="FFFFFF"/>
                </a:solidFill>
                <a:latin typeface="Lato Bold"/>
              </a:rPr>
              <a:t>https://vitb.ac.in/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73D8E0A-42EE-5867-272D-3CFAB1F70BC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9883567" y="6426200"/>
            <a:ext cx="317500" cy="317500"/>
          </a:xfrm>
          <a:prstGeom prst="rect">
            <a:avLst/>
          </a:prstGeom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F6FAC638-798A-52D4-76B7-4B5E4E74FB8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9512253" y="6426200"/>
            <a:ext cx="317500" cy="317500"/>
          </a:xfrm>
          <a:prstGeom prst="rect">
            <a:avLst/>
          </a:prstGeom>
        </p:spPr>
      </p:pic>
      <p:pic>
        <p:nvPicPr>
          <p:cNvPr id="10" name="Picture 5">
            <a:extLst>
              <a:ext uri="{FF2B5EF4-FFF2-40B4-BE49-F238E27FC236}">
                <a16:creationId xmlns:a16="http://schemas.microsoft.com/office/drawing/2014/main" id="{914B5289-5A93-CD40-FCBB-0F3B52EE316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9119414" y="6426200"/>
            <a:ext cx="317500" cy="317500"/>
          </a:xfrm>
          <a:prstGeom prst="rect">
            <a:avLst/>
          </a:prstGeom>
        </p:spPr>
      </p:pic>
      <p:pic>
        <p:nvPicPr>
          <p:cNvPr id="11" name="Picture 4">
            <a:extLst>
              <a:ext uri="{FF2B5EF4-FFF2-40B4-BE49-F238E27FC236}">
                <a16:creationId xmlns:a16="http://schemas.microsoft.com/office/drawing/2014/main" id="{C25E26D2-5F21-A477-4A52-1FDD5C04AC7D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>
          <a:xfrm>
            <a:off x="8726575" y="6426200"/>
            <a:ext cx="317500" cy="3175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C6AA094-61CD-3948-629F-7C8D3992BAFA}"/>
              </a:ext>
            </a:extLst>
          </p:cNvPr>
          <p:cNvSpPr txBox="1"/>
          <p:nvPr/>
        </p:nvSpPr>
        <p:spPr>
          <a:xfrm>
            <a:off x="285378" y="1375626"/>
            <a:ext cx="10911155" cy="5720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Recording Management Software: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Software for managing scheduled or event-based recordings, such as Zone Minder, Shinobi, or custom Python-based scripts.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 Software: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Software for live streaming, playback, and configuration, such as a web dashboard or mobile app built with Flask, React, or Android Studio.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Processing Software: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Software for analysing and processing recorded video footage, such as OpenCV, TensorFlow.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 Software: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Software for analysing usage patterns and optimizing recording decisions, such as Python libraries, NumPy (e.g., Pandas, Scikit-learn).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System: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Required to store event logs, timestamps, user data, and settings, SQ Lite, MySQL.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or Remote Access Services (Optional):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remote monitoring and backup.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2C5D7F-F41C-2E75-FDAA-70B9A3A1DE06}"/>
              </a:ext>
            </a:extLst>
          </p:cNvPr>
          <p:cNvSpPr txBox="1"/>
          <p:nvPr/>
        </p:nvSpPr>
        <p:spPr>
          <a:xfrm>
            <a:off x="143017" y="892771"/>
            <a:ext cx="61490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78939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2">
            <a:extLst>
              <a:ext uri="{FF2B5EF4-FFF2-40B4-BE49-F238E27FC236}">
                <a16:creationId xmlns:a16="http://schemas.microsoft.com/office/drawing/2014/main" id="{C2A77CD9-6D01-A8DB-C66D-BF03B69941D6}"/>
              </a:ext>
            </a:extLst>
          </p:cNvPr>
          <p:cNvGrpSpPr/>
          <p:nvPr/>
        </p:nvGrpSpPr>
        <p:grpSpPr>
          <a:xfrm>
            <a:off x="0" y="6311900"/>
            <a:ext cx="12192000" cy="546100"/>
            <a:chOff x="0" y="0"/>
            <a:chExt cx="6186311" cy="277095"/>
          </a:xfrm>
          <a:solidFill>
            <a:srgbClr val="FFC000"/>
          </a:solidFill>
        </p:grpSpPr>
        <p:sp>
          <p:nvSpPr>
            <p:cNvPr id="20" name="Freeform 3">
              <a:extLst>
                <a:ext uri="{FF2B5EF4-FFF2-40B4-BE49-F238E27FC236}">
                  <a16:creationId xmlns:a16="http://schemas.microsoft.com/office/drawing/2014/main" id="{78297845-B487-3D71-6C3A-180D740BEF2A}"/>
                </a:ext>
              </a:extLst>
            </p:cNvPr>
            <p:cNvSpPr/>
            <p:nvPr/>
          </p:nvSpPr>
          <p:spPr>
            <a:xfrm>
              <a:off x="0" y="0"/>
              <a:ext cx="6186311" cy="277095"/>
            </a:xfrm>
            <a:custGeom>
              <a:avLst/>
              <a:gdLst/>
              <a:ahLst/>
              <a:cxnLst/>
              <a:rect l="l" t="t" r="r" b="b"/>
              <a:pathLst>
                <a:path w="6186311" h="277095">
                  <a:moveTo>
                    <a:pt x="0" y="0"/>
                  </a:moveTo>
                  <a:lnTo>
                    <a:pt x="6186311" y="0"/>
                  </a:lnTo>
                  <a:lnTo>
                    <a:pt x="6186311" y="277095"/>
                  </a:lnTo>
                  <a:lnTo>
                    <a:pt x="0" y="277095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5BF16DE-C2ED-E5FA-FED5-20411081BC54}"/>
              </a:ext>
            </a:extLst>
          </p:cNvPr>
          <p:cNvCxnSpPr/>
          <p:nvPr/>
        </p:nvCxnSpPr>
        <p:spPr>
          <a:xfrm>
            <a:off x="0" y="939800"/>
            <a:ext cx="12192000" cy="105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4">
            <a:extLst>
              <a:ext uri="{FF2B5EF4-FFF2-40B4-BE49-F238E27FC236}">
                <a16:creationId xmlns:a16="http://schemas.microsoft.com/office/drawing/2014/main" id="{A38916BD-2F6C-8C5C-69F1-20EF826FFCF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8726575" y="6426200"/>
            <a:ext cx="317500" cy="317500"/>
          </a:xfrm>
          <a:prstGeom prst="rect">
            <a:avLst/>
          </a:prstGeom>
        </p:spPr>
      </p:pic>
      <p:pic>
        <p:nvPicPr>
          <p:cNvPr id="27" name="Picture 5">
            <a:extLst>
              <a:ext uri="{FF2B5EF4-FFF2-40B4-BE49-F238E27FC236}">
                <a16:creationId xmlns:a16="http://schemas.microsoft.com/office/drawing/2014/main" id="{C0CB9FD8-D8C9-4709-8349-C8C9267E832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9119414" y="6426200"/>
            <a:ext cx="317500" cy="317500"/>
          </a:xfrm>
          <a:prstGeom prst="rect">
            <a:avLst/>
          </a:prstGeom>
        </p:spPr>
      </p:pic>
      <p:pic>
        <p:nvPicPr>
          <p:cNvPr id="28" name="Picture 6">
            <a:extLst>
              <a:ext uri="{FF2B5EF4-FFF2-40B4-BE49-F238E27FC236}">
                <a16:creationId xmlns:a16="http://schemas.microsoft.com/office/drawing/2014/main" id="{DB4FE3B4-BB90-79D8-EB65-C10A428A39D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9512253" y="6426200"/>
            <a:ext cx="317500" cy="317500"/>
          </a:xfrm>
          <a:prstGeom prst="rect">
            <a:avLst/>
          </a:prstGeom>
        </p:spPr>
      </p:pic>
      <p:pic>
        <p:nvPicPr>
          <p:cNvPr id="29" name="Picture 7">
            <a:extLst>
              <a:ext uri="{FF2B5EF4-FFF2-40B4-BE49-F238E27FC236}">
                <a16:creationId xmlns:a16="http://schemas.microsoft.com/office/drawing/2014/main" id="{6BEDBDB7-0B57-60B5-B67A-1FA0861D1DA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>
            <a:off x="9883567" y="6426200"/>
            <a:ext cx="317500" cy="317500"/>
          </a:xfrm>
          <a:prstGeom prst="rect">
            <a:avLst/>
          </a:prstGeom>
        </p:spPr>
      </p:pic>
      <p:sp>
        <p:nvSpPr>
          <p:cNvPr id="30" name="TextBox 8">
            <a:extLst>
              <a:ext uri="{FF2B5EF4-FFF2-40B4-BE49-F238E27FC236}">
                <a16:creationId xmlns:a16="http://schemas.microsoft.com/office/drawing/2014/main" id="{BDC56BF2-92F3-3F12-F910-2816DF452EE8}"/>
              </a:ext>
            </a:extLst>
          </p:cNvPr>
          <p:cNvSpPr txBox="1"/>
          <p:nvPr/>
        </p:nvSpPr>
        <p:spPr>
          <a:xfrm>
            <a:off x="10201067" y="6448425"/>
            <a:ext cx="1990933" cy="2490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70"/>
              </a:lnSpc>
              <a:spcBef>
                <a:spcPct val="0"/>
              </a:spcBef>
            </a:pPr>
            <a:r>
              <a:rPr lang="en-US" sz="1725" spc="86" dirty="0">
                <a:solidFill>
                  <a:srgbClr val="FFFFFF"/>
                </a:solidFill>
                <a:latin typeface="Lato Bold"/>
              </a:rPr>
              <a:t>https://vitb.ac.in/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7C11B58-EB3F-0722-64C6-6988DC42213F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8" t="6458" r="666" b="6557"/>
          <a:stretch/>
        </p:blipFill>
        <p:spPr>
          <a:xfrm>
            <a:off x="0" y="-15722"/>
            <a:ext cx="12192000" cy="95552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2CE4802-EAF0-2FDB-46F5-BD015F90FE81}"/>
              </a:ext>
            </a:extLst>
          </p:cNvPr>
          <p:cNvSpPr txBox="1"/>
          <p:nvPr/>
        </p:nvSpPr>
        <p:spPr>
          <a:xfrm>
            <a:off x="277977" y="710033"/>
            <a:ext cx="11906707" cy="5786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 Requirements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Processing Power: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Sufficient processing power to handle real-time video processing, scheduling, and data analysis, such as a multi-core processor in a DVR unit or embedded system.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Storage: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Adequate storage for video data, such as high-capacity hard drives or SSDs, or cloud storage solutions for backup and access.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Reliability and High Availability: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continuous 24×7 surveillance, the computation platform must provide reliable uptime. This requires stable power, cooling, and redundancy in components like storage disks, network links, and compute nodes.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Power (CPU Requirements):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CPU plays a central role in handling multiple tasks such as decoding camera video streams, managing the DVR interface, performing frame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writing data to storage, and running background monitoring services.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805AFF-1158-BA72-34B4-9C66C0A3D026}"/>
              </a:ext>
            </a:extLst>
          </p:cNvPr>
          <p:cNvSpPr txBox="1"/>
          <p:nvPr/>
        </p:nvSpPr>
        <p:spPr>
          <a:xfrm>
            <a:off x="256032" y="6448425"/>
            <a:ext cx="4396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OF AI&amp;ML, VKIT</a:t>
            </a:r>
          </a:p>
        </p:txBody>
      </p:sp>
    </p:spTree>
    <p:extLst>
      <p:ext uri="{BB962C8B-B14F-4D97-AF65-F5344CB8AC3E}">
        <p14:creationId xmlns:p14="http://schemas.microsoft.com/office/powerpoint/2010/main" val="29667245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2">
            <a:extLst>
              <a:ext uri="{FF2B5EF4-FFF2-40B4-BE49-F238E27FC236}">
                <a16:creationId xmlns:a16="http://schemas.microsoft.com/office/drawing/2014/main" id="{C2A77CD9-6D01-A8DB-C66D-BF03B69941D6}"/>
              </a:ext>
            </a:extLst>
          </p:cNvPr>
          <p:cNvGrpSpPr/>
          <p:nvPr/>
        </p:nvGrpSpPr>
        <p:grpSpPr>
          <a:xfrm>
            <a:off x="0" y="6311900"/>
            <a:ext cx="12192000" cy="546100"/>
            <a:chOff x="0" y="0"/>
            <a:chExt cx="6186311" cy="277095"/>
          </a:xfrm>
          <a:solidFill>
            <a:srgbClr val="FFC000"/>
          </a:solidFill>
        </p:grpSpPr>
        <p:sp>
          <p:nvSpPr>
            <p:cNvPr id="20" name="Freeform 3">
              <a:extLst>
                <a:ext uri="{FF2B5EF4-FFF2-40B4-BE49-F238E27FC236}">
                  <a16:creationId xmlns:a16="http://schemas.microsoft.com/office/drawing/2014/main" id="{78297845-B487-3D71-6C3A-180D740BEF2A}"/>
                </a:ext>
              </a:extLst>
            </p:cNvPr>
            <p:cNvSpPr/>
            <p:nvPr/>
          </p:nvSpPr>
          <p:spPr>
            <a:xfrm>
              <a:off x="0" y="0"/>
              <a:ext cx="6186311" cy="277095"/>
            </a:xfrm>
            <a:custGeom>
              <a:avLst/>
              <a:gdLst/>
              <a:ahLst/>
              <a:cxnLst/>
              <a:rect l="l" t="t" r="r" b="b"/>
              <a:pathLst>
                <a:path w="6186311" h="277095">
                  <a:moveTo>
                    <a:pt x="0" y="0"/>
                  </a:moveTo>
                  <a:lnTo>
                    <a:pt x="6186311" y="0"/>
                  </a:lnTo>
                  <a:lnTo>
                    <a:pt x="6186311" y="277095"/>
                  </a:lnTo>
                  <a:lnTo>
                    <a:pt x="0" y="277095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5BF16DE-C2ED-E5FA-FED5-20411081BC54}"/>
              </a:ext>
            </a:extLst>
          </p:cNvPr>
          <p:cNvCxnSpPr/>
          <p:nvPr/>
        </p:nvCxnSpPr>
        <p:spPr>
          <a:xfrm>
            <a:off x="0" y="939800"/>
            <a:ext cx="12192000" cy="105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4">
            <a:extLst>
              <a:ext uri="{FF2B5EF4-FFF2-40B4-BE49-F238E27FC236}">
                <a16:creationId xmlns:a16="http://schemas.microsoft.com/office/drawing/2014/main" id="{A38916BD-2F6C-8C5C-69F1-20EF826FFCF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8726575" y="6426200"/>
            <a:ext cx="317500" cy="317500"/>
          </a:xfrm>
          <a:prstGeom prst="rect">
            <a:avLst/>
          </a:prstGeom>
        </p:spPr>
      </p:pic>
      <p:pic>
        <p:nvPicPr>
          <p:cNvPr id="27" name="Picture 5">
            <a:extLst>
              <a:ext uri="{FF2B5EF4-FFF2-40B4-BE49-F238E27FC236}">
                <a16:creationId xmlns:a16="http://schemas.microsoft.com/office/drawing/2014/main" id="{C0CB9FD8-D8C9-4709-8349-C8C9267E832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9119414" y="6426200"/>
            <a:ext cx="317500" cy="317500"/>
          </a:xfrm>
          <a:prstGeom prst="rect">
            <a:avLst/>
          </a:prstGeom>
        </p:spPr>
      </p:pic>
      <p:pic>
        <p:nvPicPr>
          <p:cNvPr id="28" name="Picture 6">
            <a:extLst>
              <a:ext uri="{FF2B5EF4-FFF2-40B4-BE49-F238E27FC236}">
                <a16:creationId xmlns:a16="http://schemas.microsoft.com/office/drawing/2014/main" id="{DB4FE3B4-BB90-79D8-EB65-C10A428A39D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9512253" y="6426200"/>
            <a:ext cx="317500" cy="317500"/>
          </a:xfrm>
          <a:prstGeom prst="rect">
            <a:avLst/>
          </a:prstGeom>
        </p:spPr>
      </p:pic>
      <p:pic>
        <p:nvPicPr>
          <p:cNvPr id="29" name="Picture 7">
            <a:extLst>
              <a:ext uri="{FF2B5EF4-FFF2-40B4-BE49-F238E27FC236}">
                <a16:creationId xmlns:a16="http://schemas.microsoft.com/office/drawing/2014/main" id="{6BEDBDB7-0B57-60B5-B67A-1FA0861D1DA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>
            <a:off x="9883567" y="6426200"/>
            <a:ext cx="317500" cy="317500"/>
          </a:xfrm>
          <a:prstGeom prst="rect">
            <a:avLst/>
          </a:prstGeom>
        </p:spPr>
      </p:pic>
      <p:sp>
        <p:nvSpPr>
          <p:cNvPr id="30" name="TextBox 8">
            <a:extLst>
              <a:ext uri="{FF2B5EF4-FFF2-40B4-BE49-F238E27FC236}">
                <a16:creationId xmlns:a16="http://schemas.microsoft.com/office/drawing/2014/main" id="{BDC56BF2-92F3-3F12-F910-2816DF452EE8}"/>
              </a:ext>
            </a:extLst>
          </p:cNvPr>
          <p:cNvSpPr txBox="1"/>
          <p:nvPr/>
        </p:nvSpPr>
        <p:spPr>
          <a:xfrm>
            <a:off x="10201067" y="6448425"/>
            <a:ext cx="1990933" cy="2490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70"/>
              </a:lnSpc>
              <a:spcBef>
                <a:spcPct val="0"/>
              </a:spcBef>
            </a:pPr>
            <a:r>
              <a:rPr lang="en-US" sz="1725" spc="86" dirty="0">
                <a:solidFill>
                  <a:srgbClr val="FFFFFF"/>
                </a:solidFill>
                <a:latin typeface="Lato Bold"/>
              </a:rPr>
              <a:t>https://vitb.ac.in/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7C11B58-EB3F-0722-64C6-6988DC42213F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8" t="6458" r="666" b="6557"/>
          <a:stretch/>
        </p:blipFill>
        <p:spPr>
          <a:xfrm>
            <a:off x="0" y="-15722"/>
            <a:ext cx="12192000" cy="955522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787A2C97-B3E2-4F8C-45E5-BD2272CB744F}"/>
              </a:ext>
            </a:extLst>
          </p:cNvPr>
          <p:cNvSpPr txBox="1">
            <a:spLocks/>
          </p:cNvSpPr>
          <p:nvPr/>
        </p:nvSpPr>
        <p:spPr>
          <a:xfrm>
            <a:off x="76201" y="987661"/>
            <a:ext cx="10131425" cy="449805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D1BC90-E9DE-B719-98EE-51368B7A1C85}"/>
              </a:ext>
            </a:extLst>
          </p:cNvPr>
          <p:cNvSpPr txBox="1"/>
          <p:nvPr/>
        </p:nvSpPr>
        <p:spPr>
          <a:xfrm>
            <a:off x="256032" y="6448425"/>
            <a:ext cx="4396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OF AI&amp;ML, VKIT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5C8C88C-7865-B196-96B6-3C7AECA2F16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2119" y="1437466"/>
            <a:ext cx="6940134" cy="4626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4163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2">
            <a:extLst>
              <a:ext uri="{FF2B5EF4-FFF2-40B4-BE49-F238E27FC236}">
                <a16:creationId xmlns:a16="http://schemas.microsoft.com/office/drawing/2014/main" id="{C2A77CD9-6D01-A8DB-C66D-BF03B69941D6}"/>
              </a:ext>
            </a:extLst>
          </p:cNvPr>
          <p:cNvGrpSpPr/>
          <p:nvPr/>
        </p:nvGrpSpPr>
        <p:grpSpPr>
          <a:xfrm>
            <a:off x="0" y="6311900"/>
            <a:ext cx="12192000" cy="546100"/>
            <a:chOff x="0" y="0"/>
            <a:chExt cx="6186311" cy="277095"/>
          </a:xfrm>
          <a:solidFill>
            <a:srgbClr val="FFC000"/>
          </a:solidFill>
        </p:grpSpPr>
        <p:sp>
          <p:nvSpPr>
            <p:cNvPr id="20" name="Freeform 3">
              <a:extLst>
                <a:ext uri="{FF2B5EF4-FFF2-40B4-BE49-F238E27FC236}">
                  <a16:creationId xmlns:a16="http://schemas.microsoft.com/office/drawing/2014/main" id="{78297845-B487-3D71-6C3A-180D740BEF2A}"/>
                </a:ext>
              </a:extLst>
            </p:cNvPr>
            <p:cNvSpPr/>
            <p:nvPr/>
          </p:nvSpPr>
          <p:spPr>
            <a:xfrm>
              <a:off x="0" y="0"/>
              <a:ext cx="6186311" cy="277095"/>
            </a:xfrm>
            <a:custGeom>
              <a:avLst/>
              <a:gdLst/>
              <a:ahLst/>
              <a:cxnLst/>
              <a:rect l="l" t="t" r="r" b="b"/>
              <a:pathLst>
                <a:path w="6186311" h="277095">
                  <a:moveTo>
                    <a:pt x="0" y="0"/>
                  </a:moveTo>
                  <a:lnTo>
                    <a:pt x="6186311" y="0"/>
                  </a:lnTo>
                  <a:lnTo>
                    <a:pt x="6186311" y="277095"/>
                  </a:lnTo>
                  <a:lnTo>
                    <a:pt x="0" y="277095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5BF16DE-C2ED-E5FA-FED5-20411081BC54}"/>
              </a:ext>
            </a:extLst>
          </p:cNvPr>
          <p:cNvCxnSpPr/>
          <p:nvPr/>
        </p:nvCxnSpPr>
        <p:spPr>
          <a:xfrm>
            <a:off x="0" y="939800"/>
            <a:ext cx="12192000" cy="105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4">
            <a:extLst>
              <a:ext uri="{FF2B5EF4-FFF2-40B4-BE49-F238E27FC236}">
                <a16:creationId xmlns:a16="http://schemas.microsoft.com/office/drawing/2014/main" id="{A38916BD-2F6C-8C5C-69F1-20EF826FFCF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8726575" y="6426200"/>
            <a:ext cx="317500" cy="317500"/>
          </a:xfrm>
          <a:prstGeom prst="rect">
            <a:avLst/>
          </a:prstGeom>
        </p:spPr>
      </p:pic>
      <p:pic>
        <p:nvPicPr>
          <p:cNvPr id="27" name="Picture 5">
            <a:extLst>
              <a:ext uri="{FF2B5EF4-FFF2-40B4-BE49-F238E27FC236}">
                <a16:creationId xmlns:a16="http://schemas.microsoft.com/office/drawing/2014/main" id="{C0CB9FD8-D8C9-4709-8349-C8C9267E832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9119414" y="6426200"/>
            <a:ext cx="317500" cy="317500"/>
          </a:xfrm>
          <a:prstGeom prst="rect">
            <a:avLst/>
          </a:prstGeom>
        </p:spPr>
      </p:pic>
      <p:pic>
        <p:nvPicPr>
          <p:cNvPr id="28" name="Picture 6">
            <a:extLst>
              <a:ext uri="{FF2B5EF4-FFF2-40B4-BE49-F238E27FC236}">
                <a16:creationId xmlns:a16="http://schemas.microsoft.com/office/drawing/2014/main" id="{DB4FE3B4-BB90-79D8-EB65-C10A428A39D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9512253" y="6426200"/>
            <a:ext cx="317500" cy="317500"/>
          </a:xfrm>
          <a:prstGeom prst="rect">
            <a:avLst/>
          </a:prstGeom>
        </p:spPr>
      </p:pic>
      <p:pic>
        <p:nvPicPr>
          <p:cNvPr id="29" name="Picture 7">
            <a:extLst>
              <a:ext uri="{FF2B5EF4-FFF2-40B4-BE49-F238E27FC236}">
                <a16:creationId xmlns:a16="http://schemas.microsoft.com/office/drawing/2014/main" id="{6BEDBDB7-0B57-60B5-B67A-1FA0861D1DA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>
            <a:off x="9883567" y="6426200"/>
            <a:ext cx="317500" cy="317500"/>
          </a:xfrm>
          <a:prstGeom prst="rect">
            <a:avLst/>
          </a:prstGeom>
        </p:spPr>
      </p:pic>
      <p:sp>
        <p:nvSpPr>
          <p:cNvPr id="30" name="TextBox 8">
            <a:extLst>
              <a:ext uri="{FF2B5EF4-FFF2-40B4-BE49-F238E27FC236}">
                <a16:creationId xmlns:a16="http://schemas.microsoft.com/office/drawing/2014/main" id="{BDC56BF2-92F3-3F12-F910-2816DF452EE8}"/>
              </a:ext>
            </a:extLst>
          </p:cNvPr>
          <p:cNvSpPr txBox="1"/>
          <p:nvPr/>
        </p:nvSpPr>
        <p:spPr>
          <a:xfrm>
            <a:off x="10201067" y="6448425"/>
            <a:ext cx="1990933" cy="2490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70"/>
              </a:lnSpc>
              <a:spcBef>
                <a:spcPct val="0"/>
              </a:spcBef>
            </a:pPr>
            <a:r>
              <a:rPr lang="en-US" sz="1725" spc="86" dirty="0">
                <a:solidFill>
                  <a:srgbClr val="FFFFFF"/>
                </a:solidFill>
                <a:latin typeface="Lato Bold"/>
              </a:rPr>
              <a:t>https://vitb.ac.in/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7C11B58-EB3F-0722-64C6-6988DC42213F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8" t="6458" r="666" b="6557"/>
          <a:stretch/>
        </p:blipFill>
        <p:spPr>
          <a:xfrm>
            <a:off x="0" y="-15722"/>
            <a:ext cx="12192000" cy="955522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E9C5BA33-9233-F41C-FB3F-9A048827A648}"/>
              </a:ext>
            </a:extLst>
          </p:cNvPr>
          <p:cNvSpPr txBox="1">
            <a:spLocks/>
          </p:cNvSpPr>
          <p:nvPr/>
        </p:nvSpPr>
        <p:spPr>
          <a:xfrm>
            <a:off x="141606" y="1032578"/>
            <a:ext cx="11595734" cy="91091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LEVEL IMPLEMENTATION - DEVELOPMENT ENVIRONMENT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1D9676-89D7-F164-E935-20FEDC673074}"/>
              </a:ext>
            </a:extLst>
          </p:cNvPr>
          <p:cNvSpPr txBox="1"/>
          <p:nvPr/>
        </p:nvSpPr>
        <p:spPr>
          <a:xfrm>
            <a:off x="256032" y="6448425"/>
            <a:ext cx="4396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OF AI&amp;ML, VKIT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E78261-79A2-163A-3C41-64A9F461C0DF}"/>
              </a:ext>
            </a:extLst>
          </p:cNvPr>
          <p:cNvSpPr txBox="1"/>
          <p:nvPr/>
        </p:nvSpPr>
        <p:spPr>
          <a:xfrm>
            <a:off x="164544" y="1329329"/>
            <a:ext cx="11280038" cy="5305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LAYING THE FOUNDATION FOR EFFICIENT AUTOMATION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9388" marR="0" lvl="0" indent="-179388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Emphasize the importance of a well-configured development environment for successful DVR automation. </a:t>
            </a:r>
          </a:p>
          <a:p>
            <a:pPr marL="179388" marR="0" lvl="0" indent="-179388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Mention that this setup includes tools, software, and access necessary to create, test, and deploy automation solutions. </a:t>
            </a:r>
          </a:p>
          <a:p>
            <a:pPr marL="179388" marR="0" lvl="0" indent="-179388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Briefly state the key components that will be covered in the following slides. 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CORE DEVELOPMENT TOOLS &amp; TECHNOLOGIES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Chosen for its simplicity, readability, and strong support for automation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Extensive libraries and frameworks for rapid development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Code (VS Code)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Built-in debugging support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terminal and Git version control</a:t>
            </a:r>
          </a:p>
          <a:p>
            <a:pPr algn="just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86363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2">
            <a:extLst>
              <a:ext uri="{FF2B5EF4-FFF2-40B4-BE49-F238E27FC236}">
                <a16:creationId xmlns:a16="http://schemas.microsoft.com/office/drawing/2014/main" id="{C2A77CD9-6D01-A8DB-C66D-BF03B69941D6}"/>
              </a:ext>
            </a:extLst>
          </p:cNvPr>
          <p:cNvGrpSpPr/>
          <p:nvPr/>
        </p:nvGrpSpPr>
        <p:grpSpPr>
          <a:xfrm>
            <a:off x="0" y="6311900"/>
            <a:ext cx="12192000" cy="546100"/>
            <a:chOff x="0" y="0"/>
            <a:chExt cx="6186311" cy="277095"/>
          </a:xfrm>
          <a:solidFill>
            <a:srgbClr val="FFC000"/>
          </a:solidFill>
        </p:grpSpPr>
        <p:sp>
          <p:nvSpPr>
            <p:cNvPr id="20" name="Freeform 3">
              <a:extLst>
                <a:ext uri="{FF2B5EF4-FFF2-40B4-BE49-F238E27FC236}">
                  <a16:creationId xmlns:a16="http://schemas.microsoft.com/office/drawing/2014/main" id="{78297845-B487-3D71-6C3A-180D740BEF2A}"/>
                </a:ext>
              </a:extLst>
            </p:cNvPr>
            <p:cNvSpPr/>
            <p:nvPr/>
          </p:nvSpPr>
          <p:spPr>
            <a:xfrm>
              <a:off x="0" y="0"/>
              <a:ext cx="6186311" cy="277095"/>
            </a:xfrm>
            <a:custGeom>
              <a:avLst/>
              <a:gdLst/>
              <a:ahLst/>
              <a:cxnLst/>
              <a:rect l="l" t="t" r="r" b="b"/>
              <a:pathLst>
                <a:path w="6186311" h="277095">
                  <a:moveTo>
                    <a:pt x="0" y="0"/>
                  </a:moveTo>
                  <a:lnTo>
                    <a:pt x="6186311" y="0"/>
                  </a:lnTo>
                  <a:lnTo>
                    <a:pt x="6186311" y="277095"/>
                  </a:lnTo>
                  <a:lnTo>
                    <a:pt x="0" y="277095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5BF16DE-C2ED-E5FA-FED5-20411081BC54}"/>
              </a:ext>
            </a:extLst>
          </p:cNvPr>
          <p:cNvCxnSpPr/>
          <p:nvPr/>
        </p:nvCxnSpPr>
        <p:spPr>
          <a:xfrm>
            <a:off x="0" y="939800"/>
            <a:ext cx="12192000" cy="105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4">
            <a:extLst>
              <a:ext uri="{FF2B5EF4-FFF2-40B4-BE49-F238E27FC236}">
                <a16:creationId xmlns:a16="http://schemas.microsoft.com/office/drawing/2014/main" id="{A38916BD-2F6C-8C5C-69F1-20EF826FFCF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8726575" y="6426200"/>
            <a:ext cx="317500" cy="317500"/>
          </a:xfrm>
          <a:prstGeom prst="rect">
            <a:avLst/>
          </a:prstGeom>
        </p:spPr>
      </p:pic>
      <p:pic>
        <p:nvPicPr>
          <p:cNvPr id="27" name="Picture 5">
            <a:extLst>
              <a:ext uri="{FF2B5EF4-FFF2-40B4-BE49-F238E27FC236}">
                <a16:creationId xmlns:a16="http://schemas.microsoft.com/office/drawing/2014/main" id="{C0CB9FD8-D8C9-4709-8349-C8C9267E832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9119414" y="6426200"/>
            <a:ext cx="317500" cy="317500"/>
          </a:xfrm>
          <a:prstGeom prst="rect">
            <a:avLst/>
          </a:prstGeom>
        </p:spPr>
      </p:pic>
      <p:pic>
        <p:nvPicPr>
          <p:cNvPr id="28" name="Picture 6">
            <a:extLst>
              <a:ext uri="{FF2B5EF4-FFF2-40B4-BE49-F238E27FC236}">
                <a16:creationId xmlns:a16="http://schemas.microsoft.com/office/drawing/2014/main" id="{DB4FE3B4-BB90-79D8-EB65-C10A428A39D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9512253" y="6426200"/>
            <a:ext cx="317500" cy="317500"/>
          </a:xfrm>
          <a:prstGeom prst="rect">
            <a:avLst/>
          </a:prstGeom>
        </p:spPr>
      </p:pic>
      <p:pic>
        <p:nvPicPr>
          <p:cNvPr id="29" name="Picture 7">
            <a:extLst>
              <a:ext uri="{FF2B5EF4-FFF2-40B4-BE49-F238E27FC236}">
                <a16:creationId xmlns:a16="http://schemas.microsoft.com/office/drawing/2014/main" id="{6BEDBDB7-0B57-60B5-B67A-1FA0861D1DA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>
            <a:off x="9883567" y="6426200"/>
            <a:ext cx="317500" cy="317500"/>
          </a:xfrm>
          <a:prstGeom prst="rect">
            <a:avLst/>
          </a:prstGeom>
        </p:spPr>
      </p:pic>
      <p:sp>
        <p:nvSpPr>
          <p:cNvPr id="30" name="TextBox 8">
            <a:extLst>
              <a:ext uri="{FF2B5EF4-FFF2-40B4-BE49-F238E27FC236}">
                <a16:creationId xmlns:a16="http://schemas.microsoft.com/office/drawing/2014/main" id="{BDC56BF2-92F3-3F12-F910-2816DF452EE8}"/>
              </a:ext>
            </a:extLst>
          </p:cNvPr>
          <p:cNvSpPr txBox="1"/>
          <p:nvPr/>
        </p:nvSpPr>
        <p:spPr>
          <a:xfrm>
            <a:off x="10201067" y="6448425"/>
            <a:ext cx="1990933" cy="2490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70"/>
              </a:lnSpc>
              <a:spcBef>
                <a:spcPct val="0"/>
              </a:spcBef>
            </a:pPr>
            <a:r>
              <a:rPr lang="en-US" sz="1725" spc="86" dirty="0">
                <a:solidFill>
                  <a:srgbClr val="FFFFFF"/>
                </a:solidFill>
                <a:latin typeface="Lato Bold"/>
              </a:rPr>
              <a:t>https://vitb.ac.in/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7C11B58-EB3F-0722-64C6-6988DC42213F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8" t="6458" r="666" b="6557"/>
          <a:stretch/>
        </p:blipFill>
        <p:spPr>
          <a:xfrm>
            <a:off x="0" y="-15722"/>
            <a:ext cx="12192000" cy="95552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79BA9F3-71A3-9D99-0139-385EC1546229}"/>
              </a:ext>
            </a:extLst>
          </p:cNvPr>
          <p:cNvSpPr txBox="1"/>
          <p:nvPr/>
        </p:nvSpPr>
        <p:spPr>
          <a:xfrm>
            <a:off x="256032" y="6448425"/>
            <a:ext cx="4396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OF AI&amp;ML, VKIT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E6AB46-D0DC-6F88-6E68-42A585583CE8}"/>
              </a:ext>
            </a:extLst>
          </p:cNvPr>
          <p:cNvSpPr txBox="1"/>
          <p:nvPr/>
        </p:nvSpPr>
        <p:spPr>
          <a:xfrm>
            <a:off x="256032" y="1111910"/>
            <a:ext cx="11484864" cy="46130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Version Control (Git):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is used to manage code changes efficiently, track version history, and maintain code integrity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smooth collaboration among team members through controlled code sharing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rollback to previous stable versions in case of errors or failures.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 Used: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GitHub.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Frameworks: Flask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develop a lightweight and scalable RESTful API server.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Facilitates efficient handling of backend logic and client–server communication.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easy integration with databases, machine learning models, and external services.</a:t>
            </a:r>
          </a:p>
          <a:p>
            <a:pPr algn="just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37701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F6FA5E3-98B7-9407-31DB-48C3C7019D9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8" t="6458" r="666" b="6557"/>
          <a:stretch/>
        </p:blipFill>
        <p:spPr>
          <a:xfrm>
            <a:off x="0" y="-15722"/>
            <a:ext cx="12192000" cy="955522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4A27CE75-819A-76B6-406B-9B0FC4435352}"/>
              </a:ext>
            </a:extLst>
          </p:cNvPr>
          <p:cNvGrpSpPr/>
          <p:nvPr/>
        </p:nvGrpSpPr>
        <p:grpSpPr>
          <a:xfrm>
            <a:off x="0" y="6311900"/>
            <a:ext cx="12192000" cy="546100"/>
            <a:chOff x="0" y="0"/>
            <a:chExt cx="6186311" cy="277095"/>
          </a:xfrm>
          <a:solidFill>
            <a:srgbClr val="FFC000"/>
          </a:solidFill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8053368F-EE91-C464-EAED-85DFC9EFA621}"/>
                </a:ext>
              </a:extLst>
            </p:cNvPr>
            <p:cNvSpPr/>
            <p:nvPr/>
          </p:nvSpPr>
          <p:spPr>
            <a:xfrm>
              <a:off x="0" y="0"/>
              <a:ext cx="6186311" cy="277095"/>
            </a:xfrm>
            <a:custGeom>
              <a:avLst/>
              <a:gdLst/>
              <a:ahLst/>
              <a:cxnLst/>
              <a:rect l="l" t="t" r="r" b="b"/>
              <a:pathLst>
                <a:path w="6186311" h="277095">
                  <a:moveTo>
                    <a:pt x="0" y="0"/>
                  </a:moveTo>
                  <a:lnTo>
                    <a:pt x="6186311" y="0"/>
                  </a:lnTo>
                  <a:lnTo>
                    <a:pt x="6186311" y="277095"/>
                  </a:lnTo>
                  <a:lnTo>
                    <a:pt x="0" y="277095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0F07C3BA-DAED-A574-C32C-0D8277B2D5D1}"/>
              </a:ext>
            </a:extLst>
          </p:cNvPr>
          <p:cNvSpPr txBox="1"/>
          <p:nvPr/>
        </p:nvSpPr>
        <p:spPr>
          <a:xfrm>
            <a:off x="256032" y="6448425"/>
            <a:ext cx="4396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OF AI&amp;ML, VKIT</a:t>
            </a:r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05FFCF55-688A-639F-3C7C-03340B11FA68}"/>
              </a:ext>
            </a:extLst>
          </p:cNvPr>
          <p:cNvSpPr txBox="1"/>
          <p:nvPr/>
        </p:nvSpPr>
        <p:spPr>
          <a:xfrm>
            <a:off x="10201067" y="6448425"/>
            <a:ext cx="1990933" cy="2490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70"/>
              </a:lnSpc>
              <a:spcBef>
                <a:spcPct val="0"/>
              </a:spcBef>
            </a:pPr>
            <a:r>
              <a:rPr lang="en-US" sz="1725" spc="86" dirty="0">
                <a:solidFill>
                  <a:srgbClr val="FFFFFF"/>
                </a:solidFill>
                <a:latin typeface="Lato Bold"/>
              </a:rPr>
              <a:t>https://vitb.ac.in/</a:t>
            </a:r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0A468EAB-B660-ED25-6409-C2B8146371E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9883567" y="6426200"/>
            <a:ext cx="317500" cy="317500"/>
          </a:xfrm>
          <a:prstGeom prst="rect">
            <a:avLst/>
          </a:prstGeom>
        </p:spPr>
      </p:pic>
      <p:pic>
        <p:nvPicPr>
          <p:cNvPr id="8" name="Picture 6">
            <a:extLst>
              <a:ext uri="{FF2B5EF4-FFF2-40B4-BE49-F238E27FC236}">
                <a16:creationId xmlns:a16="http://schemas.microsoft.com/office/drawing/2014/main" id="{C7A16E6A-BC4C-3EE6-2226-16E451A7630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9512253" y="6426200"/>
            <a:ext cx="317500" cy="317500"/>
          </a:xfrm>
          <a:prstGeom prst="rect">
            <a:avLst/>
          </a:prstGeom>
        </p:spPr>
      </p:pic>
      <p:pic>
        <p:nvPicPr>
          <p:cNvPr id="9" name="Picture 5">
            <a:extLst>
              <a:ext uri="{FF2B5EF4-FFF2-40B4-BE49-F238E27FC236}">
                <a16:creationId xmlns:a16="http://schemas.microsoft.com/office/drawing/2014/main" id="{F407122A-ED29-01F9-AB07-340136F80AC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9119414" y="6426200"/>
            <a:ext cx="317500" cy="317500"/>
          </a:xfrm>
          <a:prstGeom prst="rect">
            <a:avLst/>
          </a:prstGeom>
        </p:spPr>
      </p:pic>
      <p:pic>
        <p:nvPicPr>
          <p:cNvPr id="10" name="Picture 4">
            <a:extLst>
              <a:ext uri="{FF2B5EF4-FFF2-40B4-BE49-F238E27FC236}">
                <a16:creationId xmlns:a16="http://schemas.microsoft.com/office/drawing/2014/main" id="{F60905F5-44C1-11DF-32F1-208C7207446A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>
          <a:xfrm>
            <a:off x="8726575" y="6426200"/>
            <a:ext cx="317500" cy="3175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A89BEFB-9C07-EA13-990A-FFA61FA9741C}"/>
              </a:ext>
            </a:extLst>
          </p:cNvPr>
          <p:cNvSpPr txBox="1"/>
          <p:nvPr/>
        </p:nvSpPr>
        <p:spPr>
          <a:xfrm>
            <a:off x="178726" y="990956"/>
            <a:ext cx="11309892" cy="6090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SETTING UP THE ENVIRONMENT &amp; UI CONSIDERATIONS</a:t>
            </a:r>
            <a:endParaRPr lang="en-US" sz="16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Development Environment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Required software and libraries are installed on the developer’s machine for development and testing.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libraries include OpenCV, Flask, NumPy, Pandas,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dlib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Ultralytics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scikit-learn, and Twilio.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Environment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venv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used to isolate project dependencies.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avoid package conflicts and ensures a stable development setup.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web-based user interface is developed using the Flask framework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 enables seamless integration between the frontend UI and backend automation logic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Focuses on usability through clear layouts, transparency effects, and intuitive user interaction suitable for automation systems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58454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2">
            <a:extLst>
              <a:ext uri="{FF2B5EF4-FFF2-40B4-BE49-F238E27FC236}">
                <a16:creationId xmlns:a16="http://schemas.microsoft.com/office/drawing/2014/main" id="{C2A77CD9-6D01-A8DB-C66D-BF03B69941D6}"/>
              </a:ext>
            </a:extLst>
          </p:cNvPr>
          <p:cNvGrpSpPr/>
          <p:nvPr/>
        </p:nvGrpSpPr>
        <p:grpSpPr>
          <a:xfrm>
            <a:off x="0" y="6311900"/>
            <a:ext cx="12192000" cy="546100"/>
            <a:chOff x="0" y="0"/>
            <a:chExt cx="6186311" cy="277095"/>
          </a:xfrm>
          <a:solidFill>
            <a:srgbClr val="FFC000"/>
          </a:solidFill>
        </p:grpSpPr>
        <p:sp>
          <p:nvSpPr>
            <p:cNvPr id="20" name="Freeform 3">
              <a:extLst>
                <a:ext uri="{FF2B5EF4-FFF2-40B4-BE49-F238E27FC236}">
                  <a16:creationId xmlns:a16="http://schemas.microsoft.com/office/drawing/2014/main" id="{78297845-B487-3D71-6C3A-180D740BEF2A}"/>
                </a:ext>
              </a:extLst>
            </p:cNvPr>
            <p:cNvSpPr/>
            <p:nvPr/>
          </p:nvSpPr>
          <p:spPr>
            <a:xfrm>
              <a:off x="0" y="0"/>
              <a:ext cx="6186311" cy="277095"/>
            </a:xfrm>
            <a:custGeom>
              <a:avLst/>
              <a:gdLst/>
              <a:ahLst/>
              <a:cxnLst/>
              <a:rect l="l" t="t" r="r" b="b"/>
              <a:pathLst>
                <a:path w="6186311" h="277095">
                  <a:moveTo>
                    <a:pt x="0" y="0"/>
                  </a:moveTo>
                  <a:lnTo>
                    <a:pt x="6186311" y="0"/>
                  </a:lnTo>
                  <a:lnTo>
                    <a:pt x="6186311" y="277095"/>
                  </a:lnTo>
                  <a:lnTo>
                    <a:pt x="0" y="277095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5BF16DE-C2ED-E5FA-FED5-20411081BC54}"/>
              </a:ext>
            </a:extLst>
          </p:cNvPr>
          <p:cNvCxnSpPr/>
          <p:nvPr/>
        </p:nvCxnSpPr>
        <p:spPr>
          <a:xfrm>
            <a:off x="0" y="939800"/>
            <a:ext cx="12192000" cy="105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4">
            <a:extLst>
              <a:ext uri="{FF2B5EF4-FFF2-40B4-BE49-F238E27FC236}">
                <a16:creationId xmlns:a16="http://schemas.microsoft.com/office/drawing/2014/main" id="{A38916BD-2F6C-8C5C-69F1-20EF826FFCF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8726575" y="6426200"/>
            <a:ext cx="317500" cy="317500"/>
          </a:xfrm>
          <a:prstGeom prst="rect">
            <a:avLst/>
          </a:prstGeom>
        </p:spPr>
      </p:pic>
      <p:pic>
        <p:nvPicPr>
          <p:cNvPr id="27" name="Picture 5">
            <a:extLst>
              <a:ext uri="{FF2B5EF4-FFF2-40B4-BE49-F238E27FC236}">
                <a16:creationId xmlns:a16="http://schemas.microsoft.com/office/drawing/2014/main" id="{C0CB9FD8-D8C9-4709-8349-C8C9267E832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9119414" y="6426200"/>
            <a:ext cx="317500" cy="317500"/>
          </a:xfrm>
          <a:prstGeom prst="rect">
            <a:avLst/>
          </a:prstGeom>
        </p:spPr>
      </p:pic>
      <p:pic>
        <p:nvPicPr>
          <p:cNvPr id="28" name="Picture 6">
            <a:extLst>
              <a:ext uri="{FF2B5EF4-FFF2-40B4-BE49-F238E27FC236}">
                <a16:creationId xmlns:a16="http://schemas.microsoft.com/office/drawing/2014/main" id="{DB4FE3B4-BB90-79D8-EB65-C10A428A39D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9512253" y="6426200"/>
            <a:ext cx="317500" cy="317500"/>
          </a:xfrm>
          <a:prstGeom prst="rect">
            <a:avLst/>
          </a:prstGeom>
        </p:spPr>
      </p:pic>
      <p:pic>
        <p:nvPicPr>
          <p:cNvPr id="29" name="Picture 7">
            <a:extLst>
              <a:ext uri="{FF2B5EF4-FFF2-40B4-BE49-F238E27FC236}">
                <a16:creationId xmlns:a16="http://schemas.microsoft.com/office/drawing/2014/main" id="{6BEDBDB7-0B57-60B5-B67A-1FA0861D1DA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>
            <a:off x="9883567" y="6426200"/>
            <a:ext cx="317500" cy="317500"/>
          </a:xfrm>
          <a:prstGeom prst="rect">
            <a:avLst/>
          </a:prstGeom>
        </p:spPr>
      </p:pic>
      <p:sp>
        <p:nvSpPr>
          <p:cNvPr id="30" name="TextBox 8">
            <a:extLst>
              <a:ext uri="{FF2B5EF4-FFF2-40B4-BE49-F238E27FC236}">
                <a16:creationId xmlns:a16="http://schemas.microsoft.com/office/drawing/2014/main" id="{BDC56BF2-92F3-3F12-F910-2816DF452EE8}"/>
              </a:ext>
            </a:extLst>
          </p:cNvPr>
          <p:cNvSpPr txBox="1"/>
          <p:nvPr/>
        </p:nvSpPr>
        <p:spPr>
          <a:xfrm>
            <a:off x="10201067" y="6448425"/>
            <a:ext cx="1990933" cy="2490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70"/>
              </a:lnSpc>
              <a:spcBef>
                <a:spcPct val="0"/>
              </a:spcBef>
            </a:pPr>
            <a:r>
              <a:rPr lang="en-US" sz="1725" spc="86" dirty="0">
                <a:solidFill>
                  <a:srgbClr val="FFFFFF"/>
                </a:solidFill>
                <a:latin typeface="Lato Bold"/>
              </a:rPr>
              <a:t>https://vitb.ac.in/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7C11B58-EB3F-0722-64C6-6988DC42213F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8" t="6458" r="666" b="6557"/>
          <a:stretch/>
        </p:blipFill>
        <p:spPr>
          <a:xfrm>
            <a:off x="0" y="-15722"/>
            <a:ext cx="12192000" cy="95552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79BA9F3-71A3-9D99-0139-385EC1546229}"/>
              </a:ext>
            </a:extLst>
          </p:cNvPr>
          <p:cNvSpPr txBox="1"/>
          <p:nvPr/>
        </p:nvSpPr>
        <p:spPr>
          <a:xfrm>
            <a:off x="256032" y="6448425"/>
            <a:ext cx="4396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OF AI&amp;ML, VKIT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E6AB46-D0DC-6F88-6E68-42A585583CE8}"/>
              </a:ext>
            </a:extLst>
          </p:cNvPr>
          <p:cNvSpPr txBox="1"/>
          <p:nvPr/>
        </p:nvSpPr>
        <p:spPr>
          <a:xfrm>
            <a:off x="256032" y="1111910"/>
            <a:ext cx="11287354" cy="40128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TESTING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Frameworks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testing is used to ensure reliability and correctness of the DVR automation system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pytest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used as the testing framework for writing and executing test cases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tests validate individual modules (detection, recognition, API logic)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tests verify interaction between components such as Flask APIs, ML models, and the database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tests help ensure the complete DVR automation workflow functions as expected</a:t>
            </a:r>
          </a:p>
          <a:p>
            <a:pPr marL="742950" lvl="1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45DC4BB-4BCE-6194-8941-2DBDBCCD0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1053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4103F-6146-7AB1-3C50-D1E1349CD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2">
            <a:extLst>
              <a:ext uri="{FF2B5EF4-FFF2-40B4-BE49-F238E27FC236}">
                <a16:creationId xmlns:a16="http://schemas.microsoft.com/office/drawing/2014/main" id="{E29FAE48-FB76-4765-8AD5-6AD12107671D}"/>
              </a:ext>
            </a:extLst>
          </p:cNvPr>
          <p:cNvGrpSpPr/>
          <p:nvPr/>
        </p:nvGrpSpPr>
        <p:grpSpPr>
          <a:xfrm>
            <a:off x="0" y="6311900"/>
            <a:ext cx="12192000" cy="546100"/>
            <a:chOff x="0" y="0"/>
            <a:chExt cx="6186311" cy="277095"/>
          </a:xfrm>
          <a:solidFill>
            <a:srgbClr val="FFC000"/>
          </a:solidFill>
        </p:grpSpPr>
        <p:sp>
          <p:nvSpPr>
            <p:cNvPr id="20" name="Freeform 3">
              <a:extLst>
                <a:ext uri="{FF2B5EF4-FFF2-40B4-BE49-F238E27FC236}">
                  <a16:creationId xmlns:a16="http://schemas.microsoft.com/office/drawing/2014/main" id="{459C629B-6E54-AA3D-F3F4-A59125480B3C}"/>
                </a:ext>
              </a:extLst>
            </p:cNvPr>
            <p:cNvSpPr/>
            <p:nvPr/>
          </p:nvSpPr>
          <p:spPr>
            <a:xfrm>
              <a:off x="0" y="0"/>
              <a:ext cx="6186311" cy="277095"/>
            </a:xfrm>
            <a:custGeom>
              <a:avLst/>
              <a:gdLst/>
              <a:ahLst/>
              <a:cxnLst/>
              <a:rect l="l" t="t" r="r" b="b"/>
              <a:pathLst>
                <a:path w="6186311" h="277095">
                  <a:moveTo>
                    <a:pt x="0" y="0"/>
                  </a:moveTo>
                  <a:lnTo>
                    <a:pt x="6186311" y="0"/>
                  </a:lnTo>
                  <a:lnTo>
                    <a:pt x="6186311" y="277095"/>
                  </a:lnTo>
                  <a:lnTo>
                    <a:pt x="0" y="277095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AC4B4C8-9F9E-F362-B28E-A22731EEA1A4}"/>
              </a:ext>
            </a:extLst>
          </p:cNvPr>
          <p:cNvCxnSpPr/>
          <p:nvPr/>
        </p:nvCxnSpPr>
        <p:spPr>
          <a:xfrm>
            <a:off x="0" y="939800"/>
            <a:ext cx="12192000" cy="105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4">
            <a:extLst>
              <a:ext uri="{FF2B5EF4-FFF2-40B4-BE49-F238E27FC236}">
                <a16:creationId xmlns:a16="http://schemas.microsoft.com/office/drawing/2014/main" id="{B7EAC900-1054-C7A3-ABB4-B71B4E43E4F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8726575" y="6426200"/>
            <a:ext cx="317500" cy="317500"/>
          </a:xfrm>
          <a:prstGeom prst="rect">
            <a:avLst/>
          </a:prstGeom>
        </p:spPr>
      </p:pic>
      <p:pic>
        <p:nvPicPr>
          <p:cNvPr id="27" name="Picture 5">
            <a:extLst>
              <a:ext uri="{FF2B5EF4-FFF2-40B4-BE49-F238E27FC236}">
                <a16:creationId xmlns:a16="http://schemas.microsoft.com/office/drawing/2014/main" id="{65377242-8B9C-B79D-B285-BBCC4E42174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9119414" y="6426200"/>
            <a:ext cx="317500" cy="317500"/>
          </a:xfrm>
          <a:prstGeom prst="rect">
            <a:avLst/>
          </a:prstGeom>
        </p:spPr>
      </p:pic>
      <p:pic>
        <p:nvPicPr>
          <p:cNvPr id="28" name="Picture 6">
            <a:extLst>
              <a:ext uri="{FF2B5EF4-FFF2-40B4-BE49-F238E27FC236}">
                <a16:creationId xmlns:a16="http://schemas.microsoft.com/office/drawing/2014/main" id="{9E5124D6-5FF0-7EF4-B318-F50BDE1EAF8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9512253" y="6426200"/>
            <a:ext cx="317500" cy="317500"/>
          </a:xfrm>
          <a:prstGeom prst="rect">
            <a:avLst/>
          </a:prstGeom>
        </p:spPr>
      </p:pic>
      <p:pic>
        <p:nvPicPr>
          <p:cNvPr id="29" name="Picture 7">
            <a:extLst>
              <a:ext uri="{FF2B5EF4-FFF2-40B4-BE49-F238E27FC236}">
                <a16:creationId xmlns:a16="http://schemas.microsoft.com/office/drawing/2014/main" id="{C768347D-CE87-1AA4-756B-2F4F466C73BC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>
            <a:off x="9883567" y="6426200"/>
            <a:ext cx="317500" cy="317500"/>
          </a:xfrm>
          <a:prstGeom prst="rect">
            <a:avLst/>
          </a:prstGeom>
        </p:spPr>
      </p:pic>
      <p:sp>
        <p:nvSpPr>
          <p:cNvPr id="30" name="TextBox 8">
            <a:extLst>
              <a:ext uri="{FF2B5EF4-FFF2-40B4-BE49-F238E27FC236}">
                <a16:creationId xmlns:a16="http://schemas.microsoft.com/office/drawing/2014/main" id="{ADA4D12F-72D0-E4C0-D9B5-64594E3F3A79}"/>
              </a:ext>
            </a:extLst>
          </p:cNvPr>
          <p:cNvSpPr txBox="1"/>
          <p:nvPr/>
        </p:nvSpPr>
        <p:spPr>
          <a:xfrm>
            <a:off x="10201067" y="6448425"/>
            <a:ext cx="1990933" cy="2490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70"/>
              </a:lnSpc>
              <a:spcBef>
                <a:spcPct val="0"/>
              </a:spcBef>
            </a:pPr>
            <a:r>
              <a:rPr lang="en-US" sz="1725" spc="86" dirty="0">
                <a:solidFill>
                  <a:srgbClr val="FFFFFF"/>
                </a:solidFill>
                <a:latin typeface="Lato Bold"/>
              </a:rPr>
              <a:t>https://vitb.ac.in/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62E4328-03B9-CB9D-DA07-D5B58C79AA03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8" t="6458" r="666" b="6557"/>
          <a:stretch/>
        </p:blipFill>
        <p:spPr>
          <a:xfrm>
            <a:off x="0" y="-15722"/>
            <a:ext cx="12192000" cy="95552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E8532E9-7833-69FA-83B8-A9833AD0C3B2}"/>
              </a:ext>
            </a:extLst>
          </p:cNvPr>
          <p:cNvSpPr txBox="1"/>
          <p:nvPr/>
        </p:nvSpPr>
        <p:spPr>
          <a:xfrm>
            <a:off x="256032" y="6448425"/>
            <a:ext cx="4396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OF AI&amp;ML, VKIT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64AAEE2-6D31-AF31-69E2-96C1590A44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CB3757-068A-3EB9-AD66-B9661A2299D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9869" y="1008590"/>
            <a:ext cx="4556797" cy="510116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8820F9C-E9C0-DB95-3DEF-DA0747C7CBB5}"/>
              </a:ext>
            </a:extLst>
          </p:cNvPr>
          <p:cNvSpPr txBox="1"/>
          <p:nvPr/>
        </p:nvSpPr>
        <p:spPr>
          <a:xfrm>
            <a:off x="118532" y="1008590"/>
            <a:ext cx="4123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LETTER OF APPROVAL</a:t>
            </a:r>
          </a:p>
        </p:txBody>
      </p:sp>
    </p:spTree>
    <p:extLst>
      <p:ext uri="{BB962C8B-B14F-4D97-AF65-F5344CB8AC3E}">
        <p14:creationId xmlns:p14="http://schemas.microsoft.com/office/powerpoint/2010/main" val="17253730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5F8F3-7A28-2387-7594-EB72658B6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14">
            <a:extLst>
              <a:ext uri="{FF2B5EF4-FFF2-40B4-BE49-F238E27FC236}">
                <a16:creationId xmlns:a16="http://schemas.microsoft.com/office/drawing/2014/main" id="{67BF7FE8-C8B9-285D-41B3-3F48FB9A0B49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59326" y="1740603"/>
            <a:ext cx="7699271" cy="445033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56F5517-A5A6-909A-8224-771A1B40B8E2}"/>
              </a:ext>
            </a:extLst>
          </p:cNvPr>
          <p:cNvSpPr txBox="1"/>
          <p:nvPr/>
        </p:nvSpPr>
        <p:spPr>
          <a:xfrm>
            <a:off x="444985" y="863148"/>
            <a:ext cx="505098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SNAPSHOTS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 CREATION </a:t>
            </a:r>
          </a:p>
        </p:txBody>
      </p:sp>
      <p:grpSp>
        <p:nvGrpSpPr>
          <p:cNvPr id="4" name="Group 2">
            <a:extLst>
              <a:ext uri="{FF2B5EF4-FFF2-40B4-BE49-F238E27FC236}">
                <a16:creationId xmlns:a16="http://schemas.microsoft.com/office/drawing/2014/main" id="{37E1F990-2FD9-AC3E-A10C-56D33896EBEE}"/>
              </a:ext>
            </a:extLst>
          </p:cNvPr>
          <p:cNvGrpSpPr/>
          <p:nvPr/>
        </p:nvGrpSpPr>
        <p:grpSpPr>
          <a:xfrm>
            <a:off x="0" y="6311900"/>
            <a:ext cx="12192000" cy="546100"/>
            <a:chOff x="0" y="0"/>
            <a:chExt cx="6186311" cy="277095"/>
          </a:xfrm>
          <a:solidFill>
            <a:srgbClr val="FFC000"/>
          </a:solidFill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4EB405A9-0806-52B9-76A8-339627646DC6}"/>
                </a:ext>
              </a:extLst>
            </p:cNvPr>
            <p:cNvSpPr/>
            <p:nvPr/>
          </p:nvSpPr>
          <p:spPr>
            <a:xfrm>
              <a:off x="0" y="0"/>
              <a:ext cx="6186311" cy="277095"/>
            </a:xfrm>
            <a:custGeom>
              <a:avLst/>
              <a:gdLst/>
              <a:ahLst/>
              <a:cxnLst/>
              <a:rect l="l" t="t" r="r" b="b"/>
              <a:pathLst>
                <a:path w="6186311" h="277095">
                  <a:moveTo>
                    <a:pt x="0" y="0"/>
                  </a:moveTo>
                  <a:lnTo>
                    <a:pt x="6186311" y="0"/>
                  </a:lnTo>
                  <a:lnTo>
                    <a:pt x="6186311" y="277095"/>
                  </a:lnTo>
                  <a:lnTo>
                    <a:pt x="0" y="277095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</p:grpSp>
      <p:pic>
        <p:nvPicPr>
          <p:cNvPr id="6" name="Picture 4">
            <a:extLst>
              <a:ext uri="{FF2B5EF4-FFF2-40B4-BE49-F238E27FC236}">
                <a16:creationId xmlns:a16="http://schemas.microsoft.com/office/drawing/2014/main" id="{C436F61F-1081-149E-770A-47DA96E3191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8726575" y="6426200"/>
            <a:ext cx="317500" cy="317500"/>
          </a:xfrm>
          <a:prstGeom prst="rect">
            <a:avLst/>
          </a:prstGeom>
        </p:spPr>
      </p:pic>
      <p:pic>
        <p:nvPicPr>
          <p:cNvPr id="7" name="Picture 5">
            <a:extLst>
              <a:ext uri="{FF2B5EF4-FFF2-40B4-BE49-F238E27FC236}">
                <a16:creationId xmlns:a16="http://schemas.microsoft.com/office/drawing/2014/main" id="{3F01DAF3-F04E-A4BF-90B3-16F1CF310DA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9119414" y="6426200"/>
            <a:ext cx="317500" cy="317500"/>
          </a:xfrm>
          <a:prstGeom prst="rect">
            <a:avLst/>
          </a:prstGeom>
        </p:spPr>
      </p:pic>
      <p:pic>
        <p:nvPicPr>
          <p:cNvPr id="8" name="Picture 6">
            <a:extLst>
              <a:ext uri="{FF2B5EF4-FFF2-40B4-BE49-F238E27FC236}">
                <a16:creationId xmlns:a16="http://schemas.microsoft.com/office/drawing/2014/main" id="{DF59C9C3-7478-5AB5-6EB4-498B1098EB4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9512253" y="6426200"/>
            <a:ext cx="317500" cy="317500"/>
          </a:xfrm>
          <a:prstGeom prst="rect">
            <a:avLst/>
          </a:prstGeom>
        </p:spPr>
      </p:pic>
      <p:pic>
        <p:nvPicPr>
          <p:cNvPr id="9" name="Picture 7">
            <a:extLst>
              <a:ext uri="{FF2B5EF4-FFF2-40B4-BE49-F238E27FC236}">
                <a16:creationId xmlns:a16="http://schemas.microsoft.com/office/drawing/2014/main" id="{75454735-7583-881C-E770-4A475457DC81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>
          <a:xfrm>
            <a:off x="9883567" y="6426200"/>
            <a:ext cx="317500" cy="317500"/>
          </a:xfrm>
          <a:prstGeom prst="rect">
            <a:avLst/>
          </a:prstGeom>
        </p:spPr>
      </p:pic>
      <p:sp>
        <p:nvSpPr>
          <p:cNvPr id="10" name="TextBox 8">
            <a:extLst>
              <a:ext uri="{FF2B5EF4-FFF2-40B4-BE49-F238E27FC236}">
                <a16:creationId xmlns:a16="http://schemas.microsoft.com/office/drawing/2014/main" id="{23CA79EE-821C-C060-EB0C-1A3A051B9440}"/>
              </a:ext>
            </a:extLst>
          </p:cNvPr>
          <p:cNvSpPr txBox="1"/>
          <p:nvPr/>
        </p:nvSpPr>
        <p:spPr>
          <a:xfrm>
            <a:off x="10201067" y="6448425"/>
            <a:ext cx="1990933" cy="2490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70"/>
              </a:lnSpc>
              <a:spcBef>
                <a:spcPct val="0"/>
              </a:spcBef>
            </a:pPr>
            <a:r>
              <a:rPr lang="en-US" sz="1725" spc="86" dirty="0">
                <a:solidFill>
                  <a:srgbClr val="FFFFFF"/>
                </a:solidFill>
                <a:latin typeface="Lato Bold"/>
              </a:rPr>
              <a:t>https://vitb.ac.in/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B9E233E-DD1D-E54B-03A0-326476AF4C97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8" t="6458" r="666" b="6557"/>
          <a:stretch/>
        </p:blipFill>
        <p:spPr>
          <a:xfrm>
            <a:off x="0" y="-15722"/>
            <a:ext cx="12192000" cy="95552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5E64840-BBFE-6A7E-D7C4-5D1DF82C276F}"/>
              </a:ext>
            </a:extLst>
          </p:cNvPr>
          <p:cNvSpPr txBox="1"/>
          <p:nvPr/>
        </p:nvSpPr>
        <p:spPr>
          <a:xfrm>
            <a:off x="256032" y="6448425"/>
            <a:ext cx="4396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OF AI&amp;ML, VKIT</a:t>
            </a:r>
          </a:p>
        </p:txBody>
      </p:sp>
    </p:spTree>
    <p:extLst>
      <p:ext uri="{BB962C8B-B14F-4D97-AF65-F5344CB8AC3E}">
        <p14:creationId xmlns:p14="http://schemas.microsoft.com/office/powerpoint/2010/main" val="19256044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F1008-05AE-0177-7ADF-259A3A8DE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15">
            <a:extLst>
              <a:ext uri="{FF2B5EF4-FFF2-40B4-BE49-F238E27FC236}">
                <a16:creationId xmlns:a16="http://schemas.microsoft.com/office/drawing/2014/main" id="{7EBD15E3-B97D-A6F1-8F94-CC1A31F326D2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86828" y="1499152"/>
            <a:ext cx="8488930" cy="474448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141C12D-6AA4-1751-808B-BE6B2C0C5187}"/>
              </a:ext>
            </a:extLst>
          </p:cNvPr>
          <p:cNvSpPr txBox="1"/>
          <p:nvPr/>
        </p:nvSpPr>
        <p:spPr>
          <a:xfrm>
            <a:off x="446235" y="975932"/>
            <a:ext cx="30805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PAGE</a:t>
            </a:r>
          </a:p>
        </p:txBody>
      </p:sp>
      <p:grpSp>
        <p:nvGrpSpPr>
          <p:cNvPr id="13" name="Group 2">
            <a:extLst>
              <a:ext uri="{FF2B5EF4-FFF2-40B4-BE49-F238E27FC236}">
                <a16:creationId xmlns:a16="http://schemas.microsoft.com/office/drawing/2014/main" id="{06C0267D-60FD-2D51-22D9-32352D47D88D}"/>
              </a:ext>
            </a:extLst>
          </p:cNvPr>
          <p:cNvGrpSpPr/>
          <p:nvPr/>
        </p:nvGrpSpPr>
        <p:grpSpPr>
          <a:xfrm>
            <a:off x="0" y="6311900"/>
            <a:ext cx="12192000" cy="546100"/>
            <a:chOff x="0" y="0"/>
            <a:chExt cx="6186311" cy="277095"/>
          </a:xfrm>
          <a:solidFill>
            <a:srgbClr val="FFC000"/>
          </a:solidFill>
        </p:grpSpPr>
        <p:sp>
          <p:nvSpPr>
            <p:cNvPr id="14" name="Freeform 3">
              <a:extLst>
                <a:ext uri="{FF2B5EF4-FFF2-40B4-BE49-F238E27FC236}">
                  <a16:creationId xmlns:a16="http://schemas.microsoft.com/office/drawing/2014/main" id="{C7612038-132F-9725-2A02-9F58A97614F9}"/>
                </a:ext>
              </a:extLst>
            </p:cNvPr>
            <p:cNvSpPr/>
            <p:nvPr/>
          </p:nvSpPr>
          <p:spPr>
            <a:xfrm>
              <a:off x="0" y="0"/>
              <a:ext cx="6186311" cy="277095"/>
            </a:xfrm>
            <a:custGeom>
              <a:avLst/>
              <a:gdLst/>
              <a:ahLst/>
              <a:cxnLst/>
              <a:rect l="l" t="t" r="r" b="b"/>
              <a:pathLst>
                <a:path w="6186311" h="277095">
                  <a:moveTo>
                    <a:pt x="0" y="0"/>
                  </a:moveTo>
                  <a:lnTo>
                    <a:pt x="6186311" y="0"/>
                  </a:lnTo>
                  <a:lnTo>
                    <a:pt x="6186311" y="277095"/>
                  </a:lnTo>
                  <a:lnTo>
                    <a:pt x="0" y="277095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</p:grpSp>
      <p:pic>
        <p:nvPicPr>
          <p:cNvPr id="15" name="Picture 4">
            <a:extLst>
              <a:ext uri="{FF2B5EF4-FFF2-40B4-BE49-F238E27FC236}">
                <a16:creationId xmlns:a16="http://schemas.microsoft.com/office/drawing/2014/main" id="{8D75C6DE-ADDE-ACCC-D3AB-71049118432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8726575" y="6426200"/>
            <a:ext cx="317500" cy="317500"/>
          </a:xfrm>
          <a:prstGeom prst="rect">
            <a:avLst/>
          </a:prstGeom>
        </p:spPr>
      </p:pic>
      <p:pic>
        <p:nvPicPr>
          <p:cNvPr id="16" name="Picture 5">
            <a:extLst>
              <a:ext uri="{FF2B5EF4-FFF2-40B4-BE49-F238E27FC236}">
                <a16:creationId xmlns:a16="http://schemas.microsoft.com/office/drawing/2014/main" id="{00BEB7EC-A036-9307-0748-3C0AE1C43BE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9119414" y="6426200"/>
            <a:ext cx="317500" cy="317500"/>
          </a:xfrm>
          <a:prstGeom prst="rect">
            <a:avLst/>
          </a:prstGeom>
        </p:spPr>
      </p:pic>
      <p:pic>
        <p:nvPicPr>
          <p:cNvPr id="17" name="Picture 6">
            <a:extLst>
              <a:ext uri="{FF2B5EF4-FFF2-40B4-BE49-F238E27FC236}">
                <a16:creationId xmlns:a16="http://schemas.microsoft.com/office/drawing/2014/main" id="{9063427D-9736-2BA1-57EB-83804BC2FB6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9512253" y="6426200"/>
            <a:ext cx="317500" cy="317500"/>
          </a:xfrm>
          <a:prstGeom prst="rect">
            <a:avLst/>
          </a:prstGeom>
        </p:spPr>
      </p:pic>
      <p:pic>
        <p:nvPicPr>
          <p:cNvPr id="18" name="Picture 7">
            <a:extLst>
              <a:ext uri="{FF2B5EF4-FFF2-40B4-BE49-F238E27FC236}">
                <a16:creationId xmlns:a16="http://schemas.microsoft.com/office/drawing/2014/main" id="{C33A6FE8-1FCD-D41A-6BA0-14EBAA8B5CC2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>
          <a:xfrm>
            <a:off x="9883567" y="6426200"/>
            <a:ext cx="317500" cy="317500"/>
          </a:xfrm>
          <a:prstGeom prst="rect">
            <a:avLst/>
          </a:prstGeom>
        </p:spPr>
      </p:pic>
      <p:sp>
        <p:nvSpPr>
          <p:cNvPr id="19" name="TextBox 8">
            <a:extLst>
              <a:ext uri="{FF2B5EF4-FFF2-40B4-BE49-F238E27FC236}">
                <a16:creationId xmlns:a16="http://schemas.microsoft.com/office/drawing/2014/main" id="{13C8AC7A-E85E-D7BF-E1E6-712333C9C579}"/>
              </a:ext>
            </a:extLst>
          </p:cNvPr>
          <p:cNvSpPr txBox="1"/>
          <p:nvPr/>
        </p:nvSpPr>
        <p:spPr>
          <a:xfrm>
            <a:off x="10201067" y="6448425"/>
            <a:ext cx="1990933" cy="2490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70"/>
              </a:lnSpc>
              <a:spcBef>
                <a:spcPct val="0"/>
              </a:spcBef>
            </a:pPr>
            <a:r>
              <a:rPr lang="en-US" sz="1725" spc="86" dirty="0">
                <a:solidFill>
                  <a:srgbClr val="FFFFFF"/>
                </a:solidFill>
                <a:latin typeface="Lato Bold"/>
              </a:rPr>
              <a:t>https://vitb.ac.in/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552E022-8A39-C4B0-6169-3227B8C51930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8" t="6458" r="666" b="6557"/>
          <a:stretch/>
        </p:blipFill>
        <p:spPr>
          <a:xfrm>
            <a:off x="0" y="-15722"/>
            <a:ext cx="12192000" cy="95552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8A2537A-1BFA-D949-8D23-56EA309D3DDA}"/>
              </a:ext>
            </a:extLst>
          </p:cNvPr>
          <p:cNvSpPr txBox="1"/>
          <p:nvPr/>
        </p:nvSpPr>
        <p:spPr>
          <a:xfrm>
            <a:off x="256032" y="6448425"/>
            <a:ext cx="4396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OF AI&amp;ML, VKIT</a:t>
            </a:r>
          </a:p>
        </p:txBody>
      </p:sp>
    </p:spTree>
    <p:extLst>
      <p:ext uri="{BB962C8B-B14F-4D97-AF65-F5344CB8AC3E}">
        <p14:creationId xmlns:p14="http://schemas.microsoft.com/office/powerpoint/2010/main" val="11527057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8">
            <a:extLst>
              <a:ext uri="{FF2B5EF4-FFF2-40B4-BE49-F238E27FC236}">
                <a16:creationId xmlns:a16="http://schemas.microsoft.com/office/drawing/2014/main" id="{BDC56BF2-92F3-3F12-F910-2816DF452EE8}"/>
              </a:ext>
            </a:extLst>
          </p:cNvPr>
          <p:cNvSpPr txBox="1"/>
          <p:nvPr/>
        </p:nvSpPr>
        <p:spPr>
          <a:xfrm>
            <a:off x="10201067" y="6448425"/>
            <a:ext cx="1990933" cy="2490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70"/>
              </a:lnSpc>
              <a:spcBef>
                <a:spcPct val="0"/>
              </a:spcBef>
            </a:pPr>
            <a:r>
              <a:rPr lang="en-US" sz="1725" spc="86" dirty="0">
                <a:solidFill>
                  <a:srgbClr val="FFFFFF"/>
                </a:solidFill>
                <a:latin typeface="Lato Bold"/>
              </a:rPr>
              <a:t>https://vitb.ac.in/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4950B81-4D97-8BB1-9827-B35D94CA89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6970" y="1502586"/>
            <a:ext cx="9311155" cy="474105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9BA5FC9-2F47-C251-2494-FEE142125613}"/>
              </a:ext>
            </a:extLst>
          </p:cNvPr>
          <p:cNvSpPr txBox="1"/>
          <p:nvPr/>
        </p:nvSpPr>
        <p:spPr>
          <a:xfrm>
            <a:off x="610156" y="939800"/>
            <a:ext cx="58081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</a:p>
        </p:txBody>
      </p:sp>
      <p:grpSp>
        <p:nvGrpSpPr>
          <p:cNvPr id="4" name="Group 2">
            <a:extLst>
              <a:ext uri="{FF2B5EF4-FFF2-40B4-BE49-F238E27FC236}">
                <a16:creationId xmlns:a16="http://schemas.microsoft.com/office/drawing/2014/main" id="{B40F419D-4F6A-613C-0F04-FC877B69D87F}"/>
              </a:ext>
            </a:extLst>
          </p:cNvPr>
          <p:cNvGrpSpPr/>
          <p:nvPr/>
        </p:nvGrpSpPr>
        <p:grpSpPr>
          <a:xfrm>
            <a:off x="0" y="6311900"/>
            <a:ext cx="12192000" cy="546100"/>
            <a:chOff x="0" y="0"/>
            <a:chExt cx="6186311" cy="277095"/>
          </a:xfrm>
          <a:solidFill>
            <a:srgbClr val="FFC000"/>
          </a:solidFill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30E288C2-3BA0-9EF8-D1F9-087A1FB4167A}"/>
                </a:ext>
              </a:extLst>
            </p:cNvPr>
            <p:cNvSpPr/>
            <p:nvPr/>
          </p:nvSpPr>
          <p:spPr>
            <a:xfrm>
              <a:off x="0" y="0"/>
              <a:ext cx="6186311" cy="277095"/>
            </a:xfrm>
            <a:custGeom>
              <a:avLst/>
              <a:gdLst/>
              <a:ahLst/>
              <a:cxnLst/>
              <a:rect l="l" t="t" r="r" b="b"/>
              <a:pathLst>
                <a:path w="6186311" h="277095">
                  <a:moveTo>
                    <a:pt x="0" y="0"/>
                  </a:moveTo>
                  <a:lnTo>
                    <a:pt x="6186311" y="0"/>
                  </a:lnTo>
                  <a:lnTo>
                    <a:pt x="6186311" y="277095"/>
                  </a:lnTo>
                  <a:lnTo>
                    <a:pt x="0" y="277095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</p:grpSp>
      <p:pic>
        <p:nvPicPr>
          <p:cNvPr id="6" name="Picture 4">
            <a:extLst>
              <a:ext uri="{FF2B5EF4-FFF2-40B4-BE49-F238E27FC236}">
                <a16:creationId xmlns:a16="http://schemas.microsoft.com/office/drawing/2014/main" id="{9A363CC8-52AA-A8F9-797F-BBF24F4CC5F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8726575" y="6426200"/>
            <a:ext cx="317500" cy="317500"/>
          </a:xfrm>
          <a:prstGeom prst="rect">
            <a:avLst/>
          </a:prstGeom>
        </p:spPr>
      </p:pic>
      <p:pic>
        <p:nvPicPr>
          <p:cNvPr id="7" name="Picture 5">
            <a:extLst>
              <a:ext uri="{FF2B5EF4-FFF2-40B4-BE49-F238E27FC236}">
                <a16:creationId xmlns:a16="http://schemas.microsoft.com/office/drawing/2014/main" id="{CAD080C6-F76A-5CDB-389B-82ED187D98D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9119414" y="6426200"/>
            <a:ext cx="317500" cy="317500"/>
          </a:xfrm>
          <a:prstGeom prst="rect">
            <a:avLst/>
          </a:prstGeom>
        </p:spPr>
      </p:pic>
      <p:pic>
        <p:nvPicPr>
          <p:cNvPr id="8" name="Picture 6">
            <a:extLst>
              <a:ext uri="{FF2B5EF4-FFF2-40B4-BE49-F238E27FC236}">
                <a16:creationId xmlns:a16="http://schemas.microsoft.com/office/drawing/2014/main" id="{1A52E09C-EB34-B0D8-DB10-88F74A32C67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9512253" y="6426200"/>
            <a:ext cx="317500" cy="317500"/>
          </a:xfrm>
          <a:prstGeom prst="rect">
            <a:avLst/>
          </a:prstGeom>
        </p:spPr>
      </p:pic>
      <p:pic>
        <p:nvPicPr>
          <p:cNvPr id="9" name="Picture 7">
            <a:extLst>
              <a:ext uri="{FF2B5EF4-FFF2-40B4-BE49-F238E27FC236}">
                <a16:creationId xmlns:a16="http://schemas.microsoft.com/office/drawing/2014/main" id="{CD5A39CD-7149-EA87-3A4E-A02A18ABCC9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>
          <a:xfrm>
            <a:off x="9883567" y="6426200"/>
            <a:ext cx="317500" cy="317500"/>
          </a:xfrm>
          <a:prstGeom prst="rect">
            <a:avLst/>
          </a:prstGeom>
        </p:spPr>
      </p:pic>
      <p:sp>
        <p:nvSpPr>
          <p:cNvPr id="10" name="TextBox 8">
            <a:extLst>
              <a:ext uri="{FF2B5EF4-FFF2-40B4-BE49-F238E27FC236}">
                <a16:creationId xmlns:a16="http://schemas.microsoft.com/office/drawing/2014/main" id="{F3AC0D34-2CF2-FCE0-6F7E-8AA90377A910}"/>
              </a:ext>
            </a:extLst>
          </p:cNvPr>
          <p:cNvSpPr txBox="1"/>
          <p:nvPr/>
        </p:nvSpPr>
        <p:spPr>
          <a:xfrm>
            <a:off x="10201067" y="6448425"/>
            <a:ext cx="1990933" cy="2490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70"/>
              </a:lnSpc>
              <a:spcBef>
                <a:spcPct val="0"/>
              </a:spcBef>
            </a:pPr>
            <a:r>
              <a:rPr lang="en-US" sz="1725" spc="86" dirty="0">
                <a:solidFill>
                  <a:srgbClr val="FFFFFF"/>
                </a:solidFill>
                <a:latin typeface="Lato Bold"/>
              </a:rPr>
              <a:t>https://vitb.ac.in/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F2E247B-0982-C1B5-AE23-4FFBC936C6B7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8" t="6458" r="666" b="6557"/>
          <a:stretch/>
        </p:blipFill>
        <p:spPr>
          <a:xfrm>
            <a:off x="0" y="-15722"/>
            <a:ext cx="12192000" cy="95552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DE38E1A-3DB7-C357-CBEF-BB252E2D2B35}"/>
              </a:ext>
            </a:extLst>
          </p:cNvPr>
          <p:cNvSpPr txBox="1"/>
          <p:nvPr/>
        </p:nvSpPr>
        <p:spPr>
          <a:xfrm>
            <a:off x="256032" y="6448425"/>
            <a:ext cx="4396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OF AI&amp;ML, VKIT</a:t>
            </a:r>
          </a:p>
        </p:txBody>
      </p:sp>
    </p:spTree>
    <p:extLst>
      <p:ext uri="{BB962C8B-B14F-4D97-AF65-F5344CB8AC3E}">
        <p14:creationId xmlns:p14="http://schemas.microsoft.com/office/powerpoint/2010/main" val="40738322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18">
            <a:extLst>
              <a:ext uri="{FF2B5EF4-FFF2-40B4-BE49-F238E27FC236}">
                <a16:creationId xmlns:a16="http://schemas.microsoft.com/office/drawing/2014/main" id="{7BF1A28B-6A12-7160-1C75-4B2B36C790E2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12056" y="1453312"/>
            <a:ext cx="9023662" cy="49046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801B76D-F3A8-1D26-1D11-6E600F343DC2}"/>
              </a:ext>
            </a:extLst>
          </p:cNvPr>
          <p:cNvSpPr txBox="1"/>
          <p:nvPr/>
        </p:nvSpPr>
        <p:spPr>
          <a:xfrm>
            <a:off x="480518" y="934946"/>
            <a:ext cx="51810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SOURCE SELECTION</a:t>
            </a:r>
          </a:p>
        </p:txBody>
      </p:sp>
      <p:grpSp>
        <p:nvGrpSpPr>
          <p:cNvPr id="13" name="Group 2">
            <a:extLst>
              <a:ext uri="{FF2B5EF4-FFF2-40B4-BE49-F238E27FC236}">
                <a16:creationId xmlns:a16="http://schemas.microsoft.com/office/drawing/2014/main" id="{07B1A544-219F-1A09-351D-18DC5FFDE47E}"/>
              </a:ext>
            </a:extLst>
          </p:cNvPr>
          <p:cNvGrpSpPr/>
          <p:nvPr/>
        </p:nvGrpSpPr>
        <p:grpSpPr>
          <a:xfrm>
            <a:off x="0" y="6311900"/>
            <a:ext cx="12192000" cy="546100"/>
            <a:chOff x="0" y="0"/>
            <a:chExt cx="6186311" cy="277095"/>
          </a:xfrm>
          <a:solidFill>
            <a:srgbClr val="FFC000"/>
          </a:solidFill>
        </p:grpSpPr>
        <p:sp>
          <p:nvSpPr>
            <p:cNvPr id="14" name="Freeform 3">
              <a:extLst>
                <a:ext uri="{FF2B5EF4-FFF2-40B4-BE49-F238E27FC236}">
                  <a16:creationId xmlns:a16="http://schemas.microsoft.com/office/drawing/2014/main" id="{CE654840-8AE6-75BF-1DE7-FD38C514BE15}"/>
                </a:ext>
              </a:extLst>
            </p:cNvPr>
            <p:cNvSpPr/>
            <p:nvPr/>
          </p:nvSpPr>
          <p:spPr>
            <a:xfrm>
              <a:off x="0" y="0"/>
              <a:ext cx="6186311" cy="277095"/>
            </a:xfrm>
            <a:custGeom>
              <a:avLst/>
              <a:gdLst/>
              <a:ahLst/>
              <a:cxnLst/>
              <a:rect l="l" t="t" r="r" b="b"/>
              <a:pathLst>
                <a:path w="6186311" h="277095">
                  <a:moveTo>
                    <a:pt x="0" y="0"/>
                  </a:moveTo>
                  <a:lnTo>
                    <a:pt x="6186311" y="0"/>
                  </a:lnTo>
                  <a:lnTo>
                    <a:pt x="6186311" y="277095"/>
                  </a:lnTo>
                  <a:lnTo>
                    <a:pt x="0" y="277095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</p:grpSp>
      <p:pic>
        <p:nvPicPr>
          <p:cNvPr id="15" name="Picture 4">
            <a:extLst>
              <a:ext uri="{FF2B5EF4-FFF2-40B4-BE49-F238E27FC236}">
                <a16:creationId xmlns:a16="http://schemas.microsoft.com/office/drawing/2014/main" id="{748149CD-4B87-9050-40AF-FE6F1799FF3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8726575" y="6426200"/>
            <a:ext cx="317500" cy="317500"/>
          </a:xfrm>
          <a:prstGeom prst="rect">
            <a:avLst/>
          </a:prstGeom>
        </p:spPr>
      </p:pic>
      <p:pic>
        <p:nvPicPr>
          <p:cNvPr id="16" name="Picture 5">
            <a:extLst>
              <a:ext uri="{FF2B5EF4-FFF2-40B4-BE49-F238E27FC236}">
                <a16:creationId xmlns:a16="http://schemas.microsoft.com/office/drawing/2014/main" id="{FFE30F4D-39AE-D56F-51EC-C9315F19A08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9119414" y="6426200"/>
            <a:ext cx="317500" cy="317500"/>
          </a:xfrm>
          <a:prstGeom prst="rect">
            <a:avLst/>
          </a:prstGeom>
        </p:spPr>
      </p:pic>
      <p:pic>
        <p:nvPicPr>
          <p:cNvPr id="17" name="Picture 6">
            <a:extLst>
              <a:ext uri="{FF2B5EF4-FFF2-40B4-BE49-F238E27FC236}">
                <a16:creationId xmlns:a16="http://schemas.microsoft.com/office/drawing/2014/main" id="{AF9D59F0-E76B-2557-984D-7FF2A883A9F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9512253" y="6426200"/>
            <a:ext cx="317500" cy="317500"/>
          </a:xfrm>
          <a:prstGeom prst="rect">
            <a:avLst/>
          </a:prstGeom>
        </p:spPr>
      </p:pic>
      <p:pic>
        <p:nvPicPr>
          <p:cNvPr id="18" name="Picture 7">
            <a:extLst>
              <a:ext uri="{FF2B5EF4-FFF2-40B4-BE49-F238E27FC236}">
                <a16:creationId xmlns:a16="http://schemas.microsoft.com/office/drawing/2014/main" id="{246E1B2A-1EF2-F76D-ED65-DFA9CD7D6BE2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>
          <a:xfrm>
            <a:off x="9883567" y="6426200"/>
            <a:ext cx="317500" cy="317500"/>
          </a:xfrm>
          <a:prstGeom prst="rect">
            <a:avLst/>
          </a:prstGeom>
        </p:spPr>
      </p:pic>
      <p:sp>
        <p:nvSpPr>
          <p:cNvPr id="19" name="TextBox 8">
            <a:extLst>
              <a:ext uri="{FF2B5EF4-FFF2-40B4-BE49-F238E27FC236}">
                <a16:creationId xmlns:a16="http://schemas.microsoft.com/office/drawing/2014/main" id="{4208C6A8-7C64-4121-AB5C-8BE625B6C4FC}"/>
              </a:ext>
            </a:extLst>
          </p:cNvPr>
          <p:cNvSpPr txBox="1"/>
          <p:nvPr/>
        </p:nvSpPr>
        <p:spPr>
          <a:xfrm>
            <a:off x="10201067" y="6448425"/>
            <a:ext cx="1990933" cy="2490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70"/>
              </a:lnSpc>
              <a:spcBef>
                <a:spcPct val="0"/>
              </a:spcBef>
            </a:pPr>
            <a:r>
              <a:rPr lang="en-US" sz="1725" spc="86" dirty="0">
                <a:solidFill>
                  <a:srgbClr val="FFFFFF"/>
                </a:solidFill>
                <a:latin typeface="Lato Bold"/>
              </a:rPr>
              <a:t>https://vitb.ac.in/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454FB0C-154F-31EC-B62B-F5E5AC3F75A3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8" t="6458" r="666" b="6557"/>
          <a:stretch/>
        </p:blipFill>
        <p:spPr>
          <a:xfrm>
            <a:off x="0" y="-15722"/>
            <a:ext cx="12192000" cy="95552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7A519FA-D4E9-A707-E406-14054B6115BA}"/>
              </a:ext>
            </a:extLst>
          </p:cNvPr>
          <p:cNvSpPr txBox="1"/>
          <p:nvPr/>
        </p:nvSpPr>
        <p:spPr>
          <a:xfrm>
            <a:off x="256032" y="6448425"/>
            <a:ext cx="4396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OF AI&amp;ML, VKIT</a:t>
            </a:r>
          </a:p>
        </p:txBody>
      </p:sp>
    </p:spTree>
    <p:extLst>
      <p:ext uri="{BB962C8B-B14F-4D97-AF65-F5344CB8AC3E}">
        <p14:creationId xmlns:p14="http://schemas.microsoft.com/office/powerpoint/2010/main" val="22437240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8E365-4F77-BC19-8A9D-3D5C878D5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19">
            <a:extLst>
              <a:ext uri="{FF2B5EF4-FFF2-40B4-BE49-F238E27FC236}">
                <a16:creationId xmlns:a16="http://schemas.microsoft.com/office/drawing/2014/main" id="{458D0C3B-35A5-1B38-7AAC-9083C0622A80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07907" y="1338227"/>
            <a:ext cx="7855818" cy="44105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9FCC22-D3B7-A40D-9D59-26BC4562A780}"/>
              </a:ext>
            </a:extLst>
          </p:cNvPr>
          <p:cNvSpPr txBox="1"/>
          <p:nvPr/>
        </p:nvSpPr>
        <p:spPr>
          <a:xfrm>
            <a:off x="471358" y="847663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563AF45-8A73-8E28-8CC7-64EDBBD73F3F}"/>
              </a:ext>
            </a:extLst>
          </p:cNvPr>
          <p:cNvGrpSpPr/>
          <p:nvPr/>
        </p:nvGrpSpPr>
        <p:grpSpPr>
          <a:xfrm>
            <a:off x="0" y="6311900"/>
            <a:ext cx="12192000" cy="546100"/>
            <a:chOff x="0" y="0"/>
            <a:chExt cx="6186311" cy="277095"/>
          </a:xfrm>
          <a:solidFill>
            <a:srgbClr val="FFC000"/>
          </a:solidFill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05F0737A-F608-7508-56DE-9206FA2B627D}"/>
                </a:ext>
              </a:extLst>
            </p:cNvPr>
            <p:cNvSpPr/>
            <p:nvPr/>
          </p:nvSpPr>
          <p:spPr>
            <a:xfrm>
              <a:off x="0" y="0"/>
              <a:ext cx="6186311" cy="277095"/>
            </a:xfrm>
            <a:custGeom>
              <a:avLst/>
              <a:gdLst/>
              <a:ahLst/>
              <a:cxnLst/>
              <a:rect l="l" t="t" r="r" b="b"/>
              <a:pathLst>
                <a:path w="6186311" h="277095">
                  <a:moveTo>
                    <a:pt x="0" y="0"/>
                  </a:moveTo>
                  <a:lnTo>
                    <a:pt x="6186311" y="0"/>
                  </a:lnTo>
                  <a:lnTo>
                    <a:pt x="6186311" y="277095"/>
                  </a:lnTo>
                  <a:lnTo>
                    <a:pt x="0" y="277095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</p:grpSp>
      <p:pic>
        <p:nvPicPr>
          <p:cNvPr id="6" name="Picture 4">
            <a:extLst>
              <a:ext uri="{FF2B5EF4-FFF2-40B4-BE49-F238E27FC236}">
                <a16:creationId xmlns:a16="http://schemas.microsoft.com/office/drawing/2014/main" id="{06FEA1E3-8278-E23C-C814-1D347ADF1B4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8726575" y="6426200"/>
            <a:ext cx="317500" cy="317500"/>
          </a:xfrm>
          <a:prstGeom prst="rect">
            <a:avLst/>
          </a:prstGeom>
        </p:spPr>
      </p:pic>
      <p:pic>
        <p:nvPicPr>
          <p:cNvPr id="7" name="Picture 5">
            <a:extLst>
              <a:ext uri="{FF2B5EF4-FFF2-40B4-BE49-F238E27FC236}">
                <a16:creationId xmlns:a16="http://schemas.microsoft.com/office/drawing/2014/main" id="{21366207-156D-A1CD-3863-A86039021C3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9119414" y="6426200"/>
            <a:ext cx="317500" cy="317500"/>
          </a:xfrm>
          <a:prstGeom prst="rect">
            <a:avLst/>
          </a:prstGeom>
        </p:spPr>
      </p:pic>
      <p:pic>
        <p:nvPicPr>
          <p:cNvPr id="8" name="Picture 6">
            <a:extLst>
              <a:ext uri="{FF2B5EF4-FFF2-40B4-BE49-F238E27FC236}">
                <a16:creationId xmlns:a16="http://schemas.microsoft.com/office/drawing/2014/main" id="{862FFB5E-B0DB-B6EB-F2DD-1CD885F70EF4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9512253" y="6426200"/>
            <a:ext cx="317500" cy="317500"/>
          </a:xfrm>
          <a:prstGeom prst="rect">
            <a:avLst/>
          </a:prstGeom>
        </p:spPr>
      </p:pic>
      <p:pic>
        <p:nvPicPr>
          <p:cNvPr id="9" name="Picture 7">
            <a:extLst>
              <a:ext uri="{FF2B5EF4-FFF2-40B4-BE49-F238E27FC236}">
                <a16:creationId xmlns:a16="http://schemas.microsoft.com/office/drawing/2014/main" id="{C9314AAD-5A56-7C6F-B217-0089E3507989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>
          <a:xfrm>
            <a:off x="9883567" y="6426200"/>
            <a:ext cx="317500" cy="317500"/>
          </a:xfrm>
          <a:prstGeom prst="rect">
            <a:avLst/>
          </a:prstGeom>
        </p:spPr>
      </p:pic>
      <p:sp>
        <p:nvSpPr>
          <p:cNvPr id="10" name="TextBox 8">
            <a:extLst>
              <a:ext uri="{FF2B5EF4-FFF2-40B4-BE49-F238E27FC236}">
                <a16:creationId xmlns:a16="http://schemas.microsoft.com/office/drawing/2014/main" id="{02E93E91-04F6-32BA-BE79-BCF6A12ED788}"/>
              </a:ext>
            </a:extLst>
          </p:cNvPr>
          <p:cNvSpPr txBox="1"/>
          <p:nvPr/>
        </p:nvSpPr>
        <p:spPr>
          <a:xfrm>
            <a:off x="10201067" y="6448425"/>
            <a:ext cx="1990933" cy="2490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70"/>
              </a:lnSpc>
              <a:spcBef>
                <a:spcPct val="0"/>
              </a:spcBef>
            </a:pPr>
            <a:r>
              <a:rPr lang="en-US" sz="1725" spc="86" dirty="0">
                <a:solidFill>
                  <a:srgbClr val="FFFFFF"/>
                </a:solidFill>
                <a:latin typeface="Lato Bold"/>
              </a:rPr>
              <a:t>https://vitb.ac.in/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22C1EF0-5884-F5A3-1AE3-B9B0754543DE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8" t="6458" r="666" b="6557"/>
          <a:stretch/>
        </p:blipFill>
        <p:spPr>
          <a:xfrm>
            <a:off x="0" y="-15722"/>
            <a:ext cx="12192000" cy="95552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4B23AAC-3533-D004-D3A5-D368A4AEF1B1}"/>
              </a:ext>
            </a:extLst>
          </p:cNvPr>
          <p:cNvSpPr txBox="1"/>
          <p:nvPr/>
        </p:nvSpPr>
        <p:spPr>
          <a:xfrm>
            <a:off x="256032" y="6448425"/>
            <a:ext cx="4396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OF AI&amp;ML, VKIT</a:t>
            </a:r>
          </a:p>
        </p:txBody>
      </p:sp>
    </p:spTree>
    <p:extLst>
      <p:ext uri="{BB962C8B-B14F-4D97-AF65-F5344CB8AC3E}">
        <p14:creationId xmlns:p14="http://schemas.microsoft.com/office/powerpoint/2010/main" val="39690947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111F8-C5B9-A6AF-A060-29B8A07C9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20">
            <a:extLst>
              <a:ext uri="{FF2B5EF4-FFF2-40B4-BE49-F238E27FC236}">
                <a16:creationId xmlns:a16="http://schemas.microsoft.com/office/drawing/2014/main" id="{1A90772F-CEE6-B4A8-3D90-A5A3A020A4AA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50076" y="1367243"/>
            <a:ext cx="7135249" cy="490441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3D179CD-AF19-2D3B-0FFB-27DAA1E93F2C}"/>
              </a:ext>
            </a:extLst>
          </p:cNvPr>
          <p:cNvSpPr txBox="1"/>
          <p:nvPr/>
        </p:nvSpPr>
        <p:spPr>
          <a:xfrm>
            <a:off x="606269" y="912727"/>
            <a:ext cx="45104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 EMPLOYEE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31D123F-0C5D-D8B7-531A-46F4AAD6C5FE}"/>
              </a:ext>
            </a:extLst>
          </p:cNvPr>
          <p:cNvGrpSpPr/>
          <p:nvPr/>
        </p:nvGrpSpPr>
        <p:grpSpPr>
          <a:xfrm>
            <a:off x="0" y="6311900"/>
            <a:ext cx="12192000" cy="546100"/>
            <a:chOff x="0" y="0"/>
            <a:chExt cx="6186311" cy="277095"/>
          </a:xfrm>
          <a:solidFill>
            <a:srgbClr val="FFC000"/>
          </a:solidFill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7F8F290A-8307-5B87-BC09-62CD7CBB1B59}"/>
                </a:ext>
              </a:extLst>
            </p:cNvPr>
            <p:cNvSpPr/>
            <p:nvPr/>
          </p:nvSpPr>
          <p:spPr>
            <a:xfrm>
              <a:off x="0" y="0"/>
              <a:ext cx="6186311" cy="277095"/>
            </a:xfrm>
            <a:custGeom>
              <a:avLst/>
              <a:gdLst/>
              <a:ahLst/>
              <a:cxnLst/>
              <a:rect l="l" t="t" r="r" b="b"/>
              <a:pathLst>
                <a:path w="6186311" h="277095">
                  <a:moveTo>
                    <a:pt x="0" y="0"/>
                  </a:moveTo>
                  <a:lnTo>
                    <a:pt x="6186311" y="0"/>
                  </a:lnTo>
                  <a:lnTo>
                    <a:pt x="6186311" y="277095"/>
                  </a:lnTo>
                  <a:lnTo>
                    <a:pt x="0" y="277095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</p:grpSp>
      <p:pic>
        <p:nvPicPr>
          <p:cNvPr id="6" name="Picture 4">
            <a:extLst>
              <a:ext uri="{FF2B5EF4-FFF2-40B4-BE49-F238E27FC236}">
                <a16:creationId xmlns:a16="http://schemas.microsoft.com/office/drawing/2014/main" id="{AE954A6F-175A-0A7E-204C-6002CF42DA8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8726575" y="6426200"/>
            <a:ext cx="317500" cy="317500"/>
          </a:xfrm>
          <a:prstGeom prst="rect">
            <a:avLst/>
          </a:prstGeom>
        </p:spPr>
      </p:pic>
      <p:pic>
        <p:nvPicPr>
          <p:cNvPr id="7" name="Picture 5">
            <a:extLst>
              <a:ext uri="{FF2B5EF4-FFF2-40B4-BE49-F238E27FC236}">
                <a16:creationId xmlns:a16="http://schemas.microsoft.com/office/drawing/2014/main" id="{6E5A8A92-FD23-2432-8C98-1AE6000B5B3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9119414" y="6426200"/>
            <a:ext cx="317500" cy="317500"/>
          </a:xfrm>
          <a:prstGeom prst="rect">
            <a:avLst/>
          </a:prstGeom>
        </p:spPr>
      </p:pic>
      <p:pic>
        <p:nvPicPr>
          <p:cNvPr id="8" name="Picture 6">
            <a:extLst>
              <a:ext uri="{FF2B5EF4-FFF2-40B4-BE49-F238E27FC236}">
                <a16:creationId xmlns:a16="http://schemas.microsoft.com/office/drawing/2014/main" id="{DCEF7300-A190-7B97-C221-E489D6655D9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9512253" y="6426200"/>
            <a:ext cx="317500" cy="317500"/>
          </a:xfrm>
          <a:prstGeom prst="rect">
            <a:avLst/>
          </a:prstGeom>
        </p:spPr>
      </p:pic>
      <p:pic>
        <p:nvPicPr>
          <p:cNvPr id="9" name="Picture 7">
            <a:extLst>
              <a:ext uri="{FF2B5EF4-FFF2-40B4-BE49-F238E27FC236}">
                <a16:creationId xmlns:a16="http://schemas.microsoft.com/office/drawing/2014/main" id="{42DD101C-A101-BF2F-6855-14BC640548B7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>
          <a:xfrm>
            <a:off x="9883567" y="6426200"/>
            <a:ext cx="317500" cy="317500"/>
          </a:xfrm>
          <a:prstGeom prst="rect">
            <a:avLst/>
          </a:prstGeom>
        </p:spPr>
      </p:pic>
      <p:sp>
        <p:nvSpPr>
          <p:cNvPr id="10" name="TextBox 8">
            <a:extLst>
              <a:ext uri="{FF2B5EF4-FFF2-40B4-BE49-F238E27FC236}">
                <a16:creationId xmlns:a16="http://schemas.microsoft.com/office/drawing/2014/main" id="{CBC5DECE-30E6-79D6-A83D-3D0542F7D8B0}"/>
              </a:ext>
            </a:extLst>
          </p:cNvPr>
          <p:cNvSpPr txBox="1"/>
          <p:nvPr/>
        </p:nvSpPr>
        <p:spPr>
          <a:xfrm>
            <a:off x="10201067" y="6448425"/>
            <a:ext cx="1990933" cy="2490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70"/>
              </a:lnSpc>
              <a:spcBef>
                <a:spcPct val="0"/>
              </a:spcBef>
            </a:pPr>
            <a:r>
              <a:rPr lang="en-US" sz="1725" spc="86" dirty="0">
                <a:solidFill>
                  <a:srgbClr val="FFFFFF"/>
                </a:solidFill>
                <a:latin typeface="Lato Bold"/>
              </a:rPr>
              <a:t>https://vitb.ac.in/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ACC26CE-133F-2C96-E6AB-97B605B5304B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8" t="6458" r="666" b="6557"/>
          <a:stretch/>
        </p:blipFill>
        <p:spPr>
          <a:xfrm>
            <a:off x="0" y="-15722"/>
            <a:ext cx="12192000" cy="95552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105754B-128C-9286-17FD-19C433A83190}"/>
              </a:ext>
            </a:extLst>
          </p:cNvPr>
          <p:cNvSpPr txBox="1"/>
          <p:nvPr/>
        </p:nvSpPr>
        <p:spPr>
          <a:xfrm>
            <a:off x="256032" y="6448425"/>
            <a:ext cx="4396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OF AI&amp;ML, VKIT</a:t>
            </a:r>
          </a:p>
        </p:txBody>
      </p:sp>
    </p:spTree>
    <p:extLst>
      <p:ext uri="{BB962C8B-B14F-4D97-AF65-F5344CB8AC3E}">
        <p14:creationId xmlns:p14="http://schemas.microsoft.com/office/powerpoint/2010/main" val="13298409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158F4-60D8-3776-127A-C38ED8CFD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21">
            <a:extLst>
              <a:ext uri="{FF2B5EF4-FFF2-40B4-BE49-F238E27FC236}">
                <a16:creationId xmlns:a16="http://schemas.microsoft.com/office/drawing/2014/main" id="{BAB03AAB-61B1-62AF-FCFF-926E0D7C8835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803729" y="1380734"/>
            <a:ext cx="7315685" cy="45420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6BDB318-96CF-2BCD-792B-4AB784888F42}"/>
              </a:ext>
            </a:extLst>
          </p:cNvPr>
          <p:cNvSpPr txBox="1"/>
          <p:nvPr/>
        </p:nvSpPr>
        <p:spPr>
          <a:xfrm>
            <a:off x="727162" y="915859"/>
            <a:ext cx="46745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UNTRAINED EMPLOYEE</a:t>
            </a:r>
          </a:p>
        </p:txBody>
      </p:sp>
      <p:grpSp>
        <p:nvGrpSpPr>
          <p:cNvPr id="13" name="Group 2">
            <a:extLst>
              <a:ext uri="{FF2B5EF4-FFF2-40B4-BE49-F238E27FC236}">
                <a16:creationId xmlns:a16="http://schemas.microsoft.com/office/drawing/2014/main" id="{2E2E4776-4BB5-578F-861A-CB669AA51EFE}"/>
              </a:ext>
            </a:extLst>
          </p:cNvPr>
          <p:cNvGrpSpPr/>
          <p:nvPr/>
        </p:nvGrpSpPr>
        <p:grpSpPr>
          <a:xfrm>
            <a:off x="0" y="6311900"/>
            <a:ext cx="12192000" cy="546100"/>
            <a:chOff x="0" y="0"/>
            <a:chExt cx="6186311" cy="277095"/>
          </a:xfrm>
          <a:solidFill>
            <a:srgbClr val="FFC000"/>
          </a:solidFill>
        </p:grpSpPr>
        <p:sp>
          <p:nvSpPr>
            <p:cNvPr id="14" name="Freeform 3">
              <a:extLst>
                <a:ext uri="{FF2B5EF4-FFF2-40B4-BE49-F238E27FC236}">
                  <a16:creationId xmlns:a16="http://schemas.microsoft.com/office/drawing/2014/main" id="{7EC7079D-5EF0-5DF9-6890-44A0C53A5B5B}"/>
                </a:ext>
              </a:extLst>
            </p:cNvPr>
            <p:cNvSpPr/>
            <p:nvPr/>
          </p:nvSpPr>
          <p:spPr>
            <a:xfrm>
              <a:off x="0" y="0"/>
              <a:ext cx="6186311" cy="277095"/>
            </a:xfrm>
            <a:custGeom>
              <a:avLst/>
              <a:gdLst/>
              <a:ahLst/>
              <a:cxnLst/>
              <a:rect l="l" t="t" r="r" b="b"/>
              <a:pathLst>
                <a:path w="6186311" h="277095">
                  <a:moveTo>
                    <a:pt x="0" y="0"/>
                  </a:moveTo>
                  <a:lnTo>
                    <a:pt x="6186311" y="0"/>
                  </a:lnTo>
                  <a:lnTo>
                    <a:pt x="6186311" y="277095"/>
                  </a:lnTo>
                  <a:lnTo>
                    <a:pt x="0" y="277095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</p:grpSp>
      <p:pic>
        <p:nvPicPr>
          <p:cNvPr id="15" name="Picture 4">
            <a:extLst>
              <a:ext uri="{FF2B5EF4-FFF2-40B4-BE49-F238E27FC236}">
                <a16:creationId xmlns:a16="http://schemas.microsoft.com/office/drawing/2014/main" id="{FAB1D3FF-71A9-C2EC-9F70-7A24EA176E1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8726575" y="6426200"/>
            <a:ext cx="317500" cy="317500"/>
          </a:xfrm>
          <a:prstGeom prst="rect">
            <a:avLst/>
          </a:prstGeom>
        </p:spPr>
      </p:pic>
      <p:pic>
        <p:nvPicPr>
          <p:cNvPr id="16" name="Picture 5">
            <a:extLst>
              <a:ext uri="{FF2B5EF4-FFF2-40B4-BE49-F238E27FC236}">
                <a16:creationId xmlns:a16="http://schemas.microsoft.com/office/drawing/2014/main" id="{02A6C811-6788-1410-7EFC-33AE4A73FBC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9119414" y="6426200"/>
            <a:ext cx="317500" cy="317500"/>
          </a:xfrm>
          <a:prstGeom prst="rect">
            <a:avLst/>
          </a:prstGeom>
        </p:spPr>
      </p:pic>
      <p:pic>
        <p:nvPicPr>
          <p:cNvPr id="17" name="Picture 6">
            <a:extLst>
              <a:ext uri="{FF2B5EF4-FFF2-40B4-BE49-F238E27FC236}">
                <a16:creationId xmlns:a16="http://schemas.microsoft.com/office/drawing/2014/main" id="{8552E0DB-1818-5F53-C442-CDF52180DE0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9512253" y="6426200"/>
            <a:ext cx="317500" cy="317500"/>
          </a:xfrm>
          <a:prstGeom prst="rect">
            <a:avLst/>
          </a:prstGeom>
        </p:spPr>
      </p:pic>
      <p:pic>
        <p:nvPicPr>
          <p:cNvPr id="18" name="Picture 7">
            <a:extLst>
              <a:ext uri="{FF2B5EF4-FFF2-40B4-BE49-F238E27FC236}">
                <a16:creationId xmlns:a16="http://schemas.microsoft.com/office/drawing/2014/main" id="{25215C86-31E1-ACE0-C26E-F772C4C82B6F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>
          <a:xfrm>
            <a:off x="9883567" y="6426200"/>
            <a:ext cx="317500" cy="317500"/>
          </a:xfrm>
          <a:prstGeom prst="rect">
            <a:avLst/>
          </a:prstGeom>
        </p:spPr>
      </p:pic>
      <p:sp>
        <p:nvSpPr>
          <p:cNvPr id="19" name="TextBox 8">
            <a:extLst>
              <a:ext uri="{FF2B5EF4-FFF2-40B4-BE49-F238E27FC236}">
                <a16:creationId xmlns:a16="http://schemas.microsoft.com/office/drawing/2014/main" id="{4E3A6DB9-AB19-E8EA-23E1-A132C6DC4254}"/>
              </a:ext>
            </a:extLst>
          </p:cNvPr>
          <p:cNvSpPr txBox="1"/>
          <p:nvPr/>
        </p:nvSpPr>
        <p:spPr>
          <a:xfrm>
            <a:off x="10201067" y="6448425"/>
            <a:ext cx="1990933" cy="2490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70"/>
              </a:lnSpc>
              <a:spcBef>
                <a:spcPct val="0"/>
              </a:spcBef>
            </a:pPr>
            <a:r>
              <a:rPr lang="en-US" sz="1725" spc="86" dirty="0">
                <a:solidFill>
                  <a:srgbClr val="FFFFFF"/>
                </a:solidFill>
                <a:latin typeface="Lato Bold"/>
              </a:rPr>
              <a:t>https://vitb.ac.in/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0FD21DD-2D8B-0DA3-CE8D-26EDC09B1CEC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8" t="6458" r="666" b="6557"/>
          <a:stretch/>
        </p:blipFill>
        <p:spPr>
          <a:xfrm>
            <a:off x="0" y="-15722"/>
            <a:ext cx="12192000" cy="95552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2AB5770A-5ED8-0F02-30F9-94DC068C7037}"/>
              </a:ext>
            </a:extLst>
          </p:cNvPr>
          <p:cNvSpPr txBox="1"/>
          <p:nvPr/>
        </p:nvSpPr>
        <p:spPr>
          <a:xfrm>
            <a:off x="256032" y="6448425"/>
            <a:ext cx="4396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OF AI&amp;ML, VKIT</a:t>
            </a:r>
          </a:p>
        </p:txBody>
      </p:sp>
    </p:spTree>
    <p:extLst>
      <p:ext uri="{BB962C8B-B14F-4D97-AF65-F5344CB8AC3E}">
        <p14:creationId xmlns:p14="http://schemas.microsoft.com/office/powerpoint/2010/main" val="35763405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2">
            <a:extLst>
              <a:ext uri="{FF2B5EF4-FFF2-40B4-BE49-F238E27FC236}">
                <a16:creationId xmlns:a16="http://schemas.microsoft.com/office/drawing/2014/main" id="{C2A77CD9-6D01-A8DB-C66D-BF03B69941D6}"/>
              </a:ext>
            </a:extLst>
          </p:cNvPr>
          <p:cNvGrpSpPr/>
          <p:nvPr/>
        </p:nvGrpSpPr>
        <p:grpSpPr>
          <a:xfrm>
            <a:off x="0" y="6406997"/>
            <a:ext cx="12192000" cy="546100"/>
            <a:chOff x="0" y="0"/>
            <a:chExt cx="6186311" cy="277095"/>
          </a:xfrm>
          <a:solidFill>
            <a:srgbClr val="FFC000"/>
          </a:solidFill>
        </p:grpSpPr>
        <p:sp>
          <p:nvSpPr>
            <p:cNvPr id="20" name="Freeform 3">
              <a:extLst>
                <a:ext uri="{FF2B5EF4-FFF2-40B4-BE49-F238E27FC236}">
                  <a16:creationId xmlns:a16="http://schemas.microsoft.com/office/drawing/2014/main" id="{78297845-B487-3D71-6C3A-180D740BEF2A}"/>
                </a:ext>
              </a:extLst>
            </p:cNvPr>
            <p:cNvSpPr/>
            <p:nvPr/>
          </p:nvSpPr>
          <p:spPr>
            <a:xfrm>
              <a:off x="0" y="0"/>
              <a:ext cx="6186311" cy="277095"/>
            </a:xfrm>
            <a:custGeom>
              <a:avLst/>
              <a:gdLst/>
              <a:ahLst/>
              <a:cxnLst/>
              <a:rect l="l" t="t" r="r" b="b"/>
              <a:pathLst>
                <a:path w="6186311" h="277095">
                  <a:moveTo>
                    <a:pt x="0" y="0"/>
                  </a:moveTo>
                  <a:lnTo>
                    <a:pt x="6186311" y="0"/>
                  </a:lnTo>
                  <a:lnTo>
                    <a:pt x="6186311" y="277095"/>
                  </a:lnTo>
                  <a:lnTo>
                    <a:pt x="0" y="277095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5BF16DE-C2ED-E5FA-FED5-20411081BC54}"/>
              </a:ext>
            </a:extLst>
          </p:cNvPr>
          <p:cNvCxnSpPr/>
          <p:nvPr/>
        </p:nvCxnSpPr>
        <p:spPr>
          <a:xfrm>
            <a:off x="0" y="939800"/>
            <a:ext cx="12192000" cy="105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4">
            <a:extLst>
              <a:ext uri="{FF2B5EF4-FFF2-40B4-BE49-F238E27FC236}">
                <a16:creationId xmlns:a16="http://schemas.microsoft.com/office/drawing/2014/main" id="{A38916BD-2F6C-8C5C-69F1-20EF826FFC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8726575" y="6426200"/>
            <a:ext cx="317500" cy="317500"/>
          </a:xfrm>
          <a:prstGeom prst="rect">
            <a:avLst/>
          </a:prstGeom>
        </p:spPr>
      </p:pic>
      <p:pic>
        <p:nvPicPr>
          <p:cNvPr id="27" name="Picture 5">
            <a:extLst>
              <a:ext uri="{FF2B5EF4-FFF2-40B4-BE49-F238E27FC236}">
                <a16:creationId xmlns:a16="http://schemas.microsoft.com/office/drawing/2014/main" id="{C0CB9FD8-D8C9-4709-8349-C8C9267E832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9119414" y="6426200"/>
            <a:ext cx="317500" cy="317500"/>
          </a:xfrm>
          <a:prstGeom prst="rect">
            <a:avLst/>
          </a:prstGeom>
        </p:spPr>
      </p:pic>
      <p:pic>
        <p:nvPicPr>
          <p:cNvPr id="28" name="Picture 6">
            <a:extLst>
              <a:ext uri="{FF2B5EF4-FFF2-40B4-BE49-F238E27FC236}">
                <a16:creationId xmlns:a16="http://schemas.microsoft.com/office/drawing/2014/main" id="{DB4FE3B4-BB90-79D8-EB65-C10A428A39D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9512253" y="6426200"/>
            <a:ext cx="317500" cy="317500"/>
          </a:xfrm>
          <a:prstGeom prst="rect">
            <a:avLst/>
          </a:prstGeom>
        </p:spPr>
      </p:pic>
      <p:pic>
        <p:nvPicPr>
          <p:cNvPr id="29" name="Picture 7">
            <a:extLst>
              <a:ext uri="{FF2B5EF4-FFF2-40B4-BE49-F238E27FC236}">
                <a16:creationId xmlns:a16="http://schemas.microsoft.com/office/drawing/2014/main" id="{6BEDBDB7-0B57-60B5-B67A-1FA0861D1DA9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>
          <a:xfrm>
            <a:off x="9883567" y="6426200"/>
            <a:ext cx="317500" cy="317500"/>
          </a:xfrm>
          <a:prstGeom prst="rect">
            <a:avLst/>
          </a:prstGeom>
        </p:spPr>
      </p:pic>
      <p:sp>
        <p:nvSpPr>
          <p:cNvPr id="30" name="TextBox 8">
            <a:extLst>
              <a:ext uri="{FF2B5EF4-FFF2-40B4-BE49-F238E27FC236}">
                <a16:creationId xmlns:a16="http://schemas.microsoft.com/office/drawing/2014/main" id="{BDC56BF2-92F3-3F12-F910-2816DF452EE8}"/>
              </a:ext>
            </a:extLst>
          </p:cNvPr>
          <p:cNvSpPr txBox="1"/>
          <p:nvPr/>
        </p:nvSpPr>
        <p:spPr>
          <a:xfrm>
            <a:off x="10201067" y="6448425"/>
            <a:ext cx="1990933" cy="2490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70"/>
              </a:lnSpc>
              <a:spcBef>
                <a:spcPct val="0"/>
              </a:spcBef>
            </a:pPr>
            <a:r>
              <a:rPr lang="en-US" sz="1725" spc="86" dirty="0">
                <a:solidFill>
                  <a:srgbClr val="FFFFFF"/>
                </a:solidFill>
                <a:latin typeface="Lato Bold"/>
              </a:rPr>
              <a:t>https://vitb.ac.in/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7C11B58-EB3F-0722-64C6-6988DC42213F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8" t="6458" r="666" b="6557"/>
          <a:stretch/>
        </p:blipFill>
        <p:spPr>
          <a:xfrm>
            <a:off x="4877" y="0"/>
            <a:ext cx="12172493" cy="955522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C0C564C5-9C63-3757-F2FB-5774852514B3}"/>
              </a:ext>
            </a:extLst>
          </p:cNvPr>
          <p:cNvSpPr txBox="1">
            <a:spLocks/>
          </p:cNvSpPr>
          <p:nvPr/>
        </p:nvSpPr>
        <p:spPr>
          <a:xfrm>
            <a:off x="184948" y="922424"/>
            <a:ext cx="10515600" cy="72625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2C34C0-0C30-E035-A621-B25852570A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948" y="1414009"/>
            <a:ext cx="11438905" cy="5443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integration of Convolutional Neural Networks (CNN) with DVR automation offers a powerful and intelligent solution for modern video surveillance and content management.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By leveraging real-time video feeds from connected cameras, CNN models can accurately detect events, classify content, and optimize recording schedules based on user preferences or situational triggers.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automation not only enhances monitoring efficiency but also reduces storage costs and human intervention.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adoption of such smart DVR systems marks a significant advancement toward scalable, secure, and intelligent video management solutions.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Future developments can further improve accuracy, real-time processing, and usability across a wide range of applications including home security, broadcasting, and industrial surveillance.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Continued advancements in CNNs will improve accuracy, speed, and real-time processing.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systems will become more user-friendly, secure, and capable of handling complex surveillance needs.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EE5469-4A92-5F16-A162-A58A2D8B53B6}"/>
              </a:ext>
            </a:extLst>
          </p:cNvPr>
          <p:cNvSpPr txBox="1"/>
          <p:nvPr/>
        </p:nvSpPr>
        <p:spPr>
          <a:xfrm>
            <a:off x="256032" y="6448425"/>
            <a:ext cx="4396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OF AI&amp;ML, VKIT</a:t>
            </a:r>
          </a:p>
        </p:txBody>
      </p:sp>
    </p:spTree>
    <p:extLst>
      <p:ext uri="{BB962C8B-B14F-4D97-AF65-F5344CB8AC3E}">
        <p14:creationId xmlns:p14="http://schemas.microsoft.com/office/powerpoint/2010/main" val="12397343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2">
            <a:extLst>
              <a:ext uri="{FF2B5EF4-FFF2-40B4-BE49-F238E27FC236}">
                <a16:creationId xmlns:a16="http://schemas.microsoft.com/office/drawing/2014/main" id="{C2A77CD9-6D01-A8DB-C66D-BF03B69941D6}"/>
              </a:ext>
            </a:extLst>
          </p:cNvPr>
          <p:cNvGrpSpPr/>
          <p:nvPr/>
        </p:nvGrpSpPr>
        <p:grpSpPr>
          <a:xfrm>
            <a:off x="0" y="6406997"/>
            <a:ext cx="12192000" cy="546100"/>
            <a:chOff x="0" y="0"/>
            <a:chExt cx="6186311" cy="277095"/>
          </a:xfrm>
          <a:solidFill>
            <a:srgbClr val="FFC000"/>
          </a:solidFill>
        </p:grpSpPr>
        <p:sp>
          <p:nvSpPr>
            <p:cNvPr id="20" name="Freeform 3">
              <a:extLst>
                <a:ext uri="{FF2B5EF4-FFF2-40B4-BE49-F238E27FC236}">
                  <a16:creationId xmlns:a16="http://schemas.microsoft.com/office/drawing/2014/main" id="{78297845-B487-3D71-6C3A-180D740BEF2A}"/>
                </a:ext>
              </a:extLst>
            </p:cNvPr>
            <p:cNvSpPr/>
            <p:nvPr/>
          </p:nvSpPr>
          <p:spPr>
            <a:xfrm>
              <a:off x="0" y="0"/>
              <a:ext cx="6186311" cy="277095"/>
            </a:xfrm>
            <a:custGeom>
              <a:avLst/>
              <a:gdLst/>
              <a:ahLst/>
              <a:cxnLst/>
              <a:rect l="l" t="t" r="r" b="b"/>
              <a:pathLst>
                <a:path w="6186311" h="277095">
                  <a:moveTo>
                    <a:pt x="0" y="0"/>
                  </a:moveTo>
                  <a:lnTo>
                    <a:pt x="6186311" y="0"/>
                  </a:lnTo>
                  <a:lnTo>
                    <a:pt x="6186311" y="277095"/>
                  </a:lnTo>
                  <a:lnTo>
                    <a:pt x="0" y="277095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5BF16DE-C2ED-E5FA-FED5-20411081BC54}"/>
              </a:ext>
            </a:extLst>
          </p:cNvPr>
          <p:cNvCxnSpPr/>
          <p:nvPr/>
        </p:nvCxnSpPr>
        <p:spPr>
          <a:xfrm>
            <a:off x="0" y="939800"/>
            <a:ext cx="12192000" cy="105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4">
            <a:extLst>
              <a:ext uri="{FF2B5EF4-FFF2-40B4-BE49-F238E27FC236}">
                <a16:creationId xmlns:a16="http://schemas.microsoft.com/office/drawing/2014/main" id="{A38916BD-2F6C-8C5C-69F1-20EF826FFC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8726575" y="6426200"/>
            <a:ext cx="317500" cy="317500"/>
          </a:xfrm>
          <a:prstGeom prst="rect">
            <a:avLst/>
          </a:prstGeom>
        </p:spPr>
      </p:pic>
      <p:pic>
        <p:nvPicPr>
          <p:cNvPr id="27" name="Picture 5">
            <a:extLst>
              <a:ext uri="{FF2B5EF4-FFF2-40B4-BE49-F238E27FC236}">
                <a16:creationId xmlns:a16="http://schemas.microsoft.com/office/drawing/2014/main" id="{C0CB9FD8-D8C9-4709-8349-C8C9267E832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9119414" y="6426200"/>
            <a:ext cx="317500" cy="317500"/>
          </a:xfrm>
          <a:prstGeom prst="rect">
            <a:avLst/>
          </a:prstGeom>
        </p:spPr>
      </p:pic>
      <p:pic>
        <p:nvPicPr>
          <p:cNvPr id="28" name="Picture 6">
            <a:extLst>
              <a:ext uri="{FF2B5EF4-FFF2-40B4-BE49-F238E27FC236}">
                <a16:creationId xmlns:a16="http://schemas.microsoft.com/office/drawing/2014/main" id="{DB4FE3B4-BB90-79D8-EB65-C10A428A39D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9512253" y="6426200"/>
            <a:ext cx="317500" cy="317500"/>
          </a:xfrm>
          <a:prstGeom prst="rect">
            <a:avLst/>
          </a:prstGeom>
        </p:spPr>
      </p:pic>
      <p:pic>
        <p:nvPicPr>
          <p:cNvPr id="29" name="Picture 7">
            <a:extLst>
              <a:ext uri="{FF2B5EF4-FFF2-40B4-BE49-F238E27FC236}">
                <a16:creationId xmlns:a16="http://schemas.microsoft.com/office/drawing/2014/main" id="{6BEDBDB7-0B57-60B5-B67A-1FA0861D1DA9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>
          <a:xfrm>
            <a:off x="9883567" y="6426200"/>
            <a:ext cx="317500" cy="317500"/>
          </a:xfrm>
          <a:prstGeom prst="rect">
            <a:avLst/>
          </a:prstGeom>
        </p:spPr>
      </p:pic>
      <p:sp>
        <p:nvSpPr>
          <p:cNvPr id="30" name="TextBox 8">
            <a:extLst>
              <a:ext uri="{FF2B5EF4-FFF2-40B4-BE49-F238E27FC236}">
                <a16:creationId xmlns:a16="http://schemas.microsoft.com/office/drawing/2014/main" id="{BDC56BF2-92F3-3F12-F910-2816DF452EE8}"/>
              </a:ext>
            </a:extLst>
          </p:cNvPr>
          <p:cNvSpPr txBox="1"/>
          <p:nvPr/>
        </p:nvSpPr>
        <p:spPr>
          <a:xfrm>
            <a:off x="10201067" y="6448425"/>
            <a:ext cx="1990933" cy="2490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70"/>
              </a:lnSpc>
              <a:spcBef>
                <a:spcPct val="0"/>
              </a:spcBef>
            </a:pPr>
            <a:r>
              <a:rPr lang="en-US" sz="1725" spc="86" dirty="0">
                <a:solidFill>
                  <a:srgbClr val="FFFFFF"/>
                </a:solidFill>
                <a:latin typeface="Lato Bold"/>
              </a:rPr>
              <a:t>https://vitb.ac.in/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7C11B58-EB3F-0722-64C6-6988DC42213F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8" t="6458" r="666" b="6557"/>
          <a:stretch/>
        </p:blipFill>
        <p:spPr>
          <a:xfrm>
            <a:off x="4877" y="0"/>
            <a:ext cx="12172493" cy="955522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C0C564C5-9C63-3757-F2FB-5774852514B3}"/>
              </a:ext>
            </a:extLst>
          </p:cNvPr>
          <p:cNvSpPr txBox="1">
            <a:spLocks/>
          </p:cNvSpPr>
          <p:nvPr/>
        </p:nvSpPr>
        <p:spPr>
          <a:xfrm>
            <a:off x="184948" y="922424"/>
            <a:ext cx="10515600" cy="72625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2C34C0-0C30-E035-A621-B25852570A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670" y="1274610"/>
            <a:ext cx="11564298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 CNN models with larger and more diverse video datasets to improve event detection and classification accuracy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 real-time decision-making for dynamic scheduling, recording, and storage management.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Utilize edge computing and AI acceleration to enable faster inference and real-time analytics on embedded DVR hardware.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powerful edge devices (Jetson Orin, Edge TPUs) will enable on-camera AI, reducing network load and providing instant decision-making.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Cloud-based analytics will allow remote access, federated learning, and large-scale data aggregation for more robust security systems.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AI-based behavioural modelling, future DVRs can predict suspicious activity before it happens, improving preventive security.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EE5469-4A92-5F16-A162-A58A2D8B53B6}"/>
              </a:ext>
            </a:extLst>
          </p:cNvPr>
          <p:cNvSpPr txBox="1"/>
          <p:nvPr/>
        </p:nvSpPr>
        <p:spPr>
          <a:xfrm>
            <a:off x="256032" y="6448425"/>
            <a:ext cx="4396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OF AI&amp;ML, VKIT</a:t>
            </a:r>
          </a:p>
        </p:txBody>
      </p:sp>
    </p:spTree>
    <p:extLst>
      <p:ext uri="{BB962C8B-B14F-4D97-AF65-F5344CB8AC3E}">
        <p14:creationId xmlns:p14="http://schemas.microsoft.com/office/powerpoint/2010/main" val="40477307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FE9A32-D930-9380-DEC9-69EC102C8CCD}"/>
              </a:ext>
            </a:extLst>
          </p:cNvPr>
          <p:cNvSpPr txBox="1"/>
          <p:nvPr/>
        </p:nvSpPr>
        <p:spPr>
          <a:xfrm>
            <a:off x="968808" y="1278446"/>
            <a:ext cx="11068294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Pingge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Hu,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Xiaoteng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Zhang,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Mengmeng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Li, Yingjie Zhu, Li Shi, “TSOM: Small Object Motion Detection Neural     Network Inspired by Avian Visual Circuit”, In Proc. of Neural Networks, Volume 182, 106881, 2025, ISSN 0893-6080, https://doi.org/10.1016/j. neunet.2024.106881. </a:t>
            </a:r>
          </a:p>
          <a:p>
            <a:pPr algn="just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Yau Alhaji Samaila, Patrick Sebastian, Aliyu Nuhu Shuaibu, Syed Saad Azhar Ali, Sulaiman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Adejo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Muhammad, Muhammad Sani Yahya, Isiaka Shuaibu, Isa Mohammed Sani, “Real-Time Deep Anomaly Detection: An Overview of Benchmark Datasets and Performance Metrics”, In Proc. of Transportation Research Procedia, Volume 84, pp. 418 425, 2025, ISSN 2352-1465, https://doi.org/10.1016/j.trpro.2025.03.091. </a:t>
            </a:r>
          </a:p>
          <a:p>
            <a:pPr algn="just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Sanxin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Jiang, Hongliang Zhang,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Changde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Ding, ”Dual-Optimized Two-Stage Camouflaged Object Detection”, Journal of Visual Communication and Image Representation, Volume 114, 104-631, 2025, ISSN 1047-3203, https://doi.org/10.1016 /j.jvcir.2025.104631. </a:t>
            </a:r>
          </a:p>
          <a:p>
            <a:pPr algn="just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Ayşe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Aybilge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Murat, Mustafa Servet Kiran, “A Comprehensive Review on YOLO Versions for Object Detection”, Engineering Science and Technology, An International Journal, Volume 70, pp. 102-161, ISSN 2215-0986, https://doi.org/10.1016/j. jestch.2025.102161. </a:t>
            </a:r>
          </a:p>
          <a:p>
            <a:pPr algn="just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Paschalis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Tsirtsakis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Georgios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Zacharis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George S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Maraslidis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George F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Fragulis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“Deep Learning for Object Recognition: A Comprehensive Review of Models and Algorithms”, International Journal of Cognitive Computing in Engineering, Volume 6, pp. 298-312, 2025, ISSN 2666-3074, https://doi.org/10.1016/j.ijcce.2025.01.004.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023D06-88D9-F0C1-D12F-D5162EE268FE}"/>
              </a:ext>
            </a:extLst>
          </p:cNvPr>
          <p:cNvSpPr txBox="1"/>
          <p:nvPr/>
        </p:nvSpPr>
        <p:spPr>
          <a:xfrm>
            <a:off x="529236" y="1524667"/>
            <a:ext cx="660399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75CE74-AFB1-C0A7-E687-F4C0D641E4EC}"/>
              </a:ext>
            </a:extLst>
          </p:cNvPr>
          <p:cNvSpPr txBox="1"/>
          <p:nvPr/>
        </p:nvSpPr>
        <p:spPr>
          <a:xfrm>
            <a:off x="529236" y="898033"/>
            <a:ext cx="61142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grpSp>
        <p:nvGrpSpPr>
          <p:cNvPr id="5" name="Group 2">
            <a:extLst>
              <a:ext uri="{FF2B5EF4-FFF2-40B4-BE49-F238E27FC236}">
                <a16:creationId xmlns:a16="http://schemas.microsoft.com/office/drawing/2014/main" id="{4104E3B7-6028-664F-7D92-9F410289C6F9}"/>
              </a:ext>
            </a:extLst>
          </p:cNvPr>
          <p:cNvGrpSpPr/>
          <p:nvPr/>
        </p:nvGrpSpPr>
        <p:grpSpPr>
          <a:xfrm>
            <a:off x="0" y="6311900"/>
            <a:ext cx="12192000" cy="546100"/>
            <a:chOff x="0" y="0"/>
            <a:chExt cx="6186311" cy="277095"/>
          </a:xfrm>
          <a:solidFill>
            <a:srgbClr val="FFC000"/>
          </a:solidFill>
        </p:grpSpPr>
        <p:sp>
          <p:nvSpPr>
            <p:cNvPr id="6" name="Freeform 3">
              <a:extLst>
                <a:ext uri="{FF2B5EF4-FFF2-40B4-BE49-F238E27FC236}">
                  <a16:creationId xmlns:a16="http://schemas.microsoft.com/office/drawing/2014/main" id="{5A461806-1234-758C-9FA1-2F715A9AA8A5}"/>
                </a:ext>
              </a:extLst>
            </p:cNvPr>
            <p:cNvSpPr/>
            <p:nvPr/>
          </p:nvSpPr>
          <p:spPr>
            <a:xfrm>
              <a:off x="0" y="0"/>
              <a:ext cx="6186311" cy="277095"/>
            </a:xfrm>
            <a:custGeom>
              <a:avLst/>
              <a:gdLst/>
              <a:ahLst/>
              <a:cxnLst/>
              <a:rect l="l" t="t" r="r" b="b"/>
              <a:pathLst>
                <a:path w="6186311" h="277095">
                  <a:moveTo>
                    <a:pt x="0" y="0"/>
                  </a:moveTo>
                  <a:lnTo>
                    <a:pt x="6186311" y="0"/>
                  </a:lnTo>
                  <a:lnTo>
                    <a:pt x="6186311" y="277095"/>
                  </a:lnTo>
                  <a:lnTo>
                    <a:pt x="0" y="277095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</p:grpSp>
      <p:pic>
        <p:nvPicPr>
          <p:cNvPr id="7" name="Picture 4">
            <a:extLst>
              <a:ext uri="{FF2B5EF4-FFF2-40B4-BE49-F238E27FC236}">
                <a16:creationId xmlns:a16="http://schemas.microsoft.com/office/drawing/2014/main" id="{A983B3CC-57B1-53A4-71CA-F4D83E92CA1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8726575" y="6426200"/>
            <a:ext cx="317500" cy="317500"/>
          </a:xfrm>
          <a:prstGeom prst="rect">
            <a:avLst/>
          </a:prstGeom>
        </p:spPr>
      </p:pic>
      <p:pic>
        <p:nvPicPr>
          <p:cNvPr id="8" name="Picture 5">
            <a:extLst>
              <a:ext uri="{FF2B5EF4-FFF2-40B4-BE49-F238E27FC236}">
                <a16:creationId xmlns:a16="http://schemas.microsoft.com/office/drawing/2014/main" id="{156F1487-AFB4-AA4A-CA6E-B553D7043D4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9119414" y="6426200"/>
            <a:ext cx="317500" cy="317500"/>
          </a:xfrm>
          <a:prstGeom prst="rect">
            <a:avLst/>
          </a:prstGeom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76D8E8D6-5811-8257-75CB-3FEAF0FCBDB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9512253" y="6426200"/>
            <a:ext cx="317500" cy="317500"/>
          </a:xfrm>
          <a:prstGeom prst="rect">
            <a:avLst/>
          </a:prstGeom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89633E3E-56E2-4288-92C6-BEB4A7075054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>
            <a:off x="9883567" y="6426200"/>
            <a:ext cx="317500" cy="317500"/>
          </a:xfrm>
          <a:prstGeom prst="rect">
            <a:avLst/>
          </a:prstGeom>
        </p:spPr>
      </p:pic>
      <p:sp>
        <p:nvSpPr>
          <p:cNvPr id="11" name="TextBox 8">
            <a:extLst>
              <a:ext uri="{FF2B5EF4-FFF2-40B4-BE49-F238E27FC236}">
                <a16:creationId xmlns:a16="http://schemas.microsoft.com/office/drawing/2014/main" id="{BB93F409-DC41-00E2-316F-7D560188DFC0}"/>
              </a:ext>
            </a:extLst>
          </p:cNvPr>
          <p:cNvSpPr txBox="1"/>
          <p:nvPr/>
        </p:nvSpPr>
        <p:spPr>
          <a:xfrm>
            <a:off x="10201067" y="6448425"/>
            <a:ext cx="1990933" cy="2490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70"/>
              </a:lnSpc>
              <a:spcBef>
                <a:spcPct val="0"/>
              </a:spcBef>
            </a:pPr>
            <a:r>
              <a:rPr lang="en-US" sz="1725" spc="86" dirty="0">
                <a:solidFill>
                  <a:srgbClr val="FFFFFF"/>
                </a:solidFill>
                <a:latin typeface="Lato Bold"/>
              </a:rPr>
              <a:t>https://vitb.ac.in/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D0B2E8F-D90C-5BA9-D1E8-A985CDC36286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8" t="6458" r="666" b="6557"/>
          <a:stretch/>
        </p:blipFill>
        <p:spPr>
          <a:xfrm>
            <a:off x="0" y="-15722"/>
            <a:ext cx="12192000" cy="95552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872AFF0-DBC4-CD3D-2E62-DED8CEC6A54C}"/>
              </a:ext>
            </a:extLst>
          </p:cNvPr>
          <p:cNvSpPr txBox="1"/>
          <p:nvPr/>
        </p:nvSpPr>
        <p:spPr>
          <a:xfrm>
            <a:off x="256032" y="6448425"/>
            <a:ext cx="4396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OF AI&amp;ML, VKIT</a:t>
            </a:r>
          </a:p>
        </p:txBody>
      </p:sp>
    </p:spTree>
    <p:extLst>
      <p:ext uri="{BB962C8B-B14F-4D97-AF65-F5344CB8AC3E}">
        <p14:creationId xmlns:p14="http://schemas.microsoft.com/office/powerpoint/2010/main" val="39816172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7BF40-5A62-565B-C48F-3BA227DE1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29E96E-BC4B-D9D1-549D-967F2F93A00D}"/>
              </a:ext>
            </a:extLst>
          </p:cNvPr>
          <p:cNvSpPr txBox="1"/>
          <p:nvPr/>
        </p:nvSpPr>
        <p:spPr>
          <a:xfrm>
            <a:off x="983797" y="1366024"/>
            <a:ext cx="1112825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Jour, Sabha, Ambreen,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Selwal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Arvind, “Face Recognition-Based Intelligent Smart Home Surveillance via Real-Time Video Analysis”, A Journal on Progress in Artificial Intelligence, pp. 2192-6360, 2025, https://doi.org/10.1007/s13748-025-00410-y.  </a:t>
            </a:r>
          </a:p>
          <a:p>
            <a:pPr algn="just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Yuntae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Jeon, Dai Quoc Tran, Almo Senja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Kulinan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Taeheon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Kim, Minsoo Park, Seunghee Park, “Vision-Based Motion Prediction for Construction Workers Safety in Real-Time Multi-Camera System”, Advanced Engineering Informatics, Volume 62, Part D, 102898, 2024, ISSN 1474-0346,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https://doi.org/10.1016/j.aei.2024.102898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Zumaya, Rebecca, Moctezuma, Daniela,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Magadán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-Salazar, Andrea, “Improvement of Low-Quality Images Applied To Intelligent Video Surveillance Systems”, Journal of Signal, Image and Video Processing, Volume 19, pp. 1863-1711, 2024, https://doi.org/ 10.1007/s11760-024-03636-w. </a:t>
            </a:r>
          </a:p>
          <a:p>
            <a:pPr algn="just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Hobeom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Jeon,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Hyungmin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Kim,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Dohyung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Kim,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Jeahong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Kim, “PASS-CCTV: Proactive Anomaly Surveillance System for CCTV Footage analysis in adverse environmental conditions”, In Proc. of Expert Systems with Applications, Volume 254, 124-391, 2024, ISSN 0957-4174, https://doi.org/10.1016/j.eswa .2024.124391. </a:t>
            </a:r>
          </a:p>
          <a:p>
            <a:pPr algn="just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Chunying Cui, Linlin Liu, Rui Qiao, “A Cutting-Edge Video Anomaly Detection Method Using Image Quality Assessment and Attention Mechanism-Based Deep Learning”, Alexandria Engineering Journal, Volume 108, pp. 476-485, 2024, ISSN 1110-0168, https://doi.org/10.1016/j.aej.2024.07.103.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79EA00-A77E-5387-3E80-B10B01836542}"/>
              </a:ext>
            </a:extLst>
          </p:cNvPr>
          <p:cNvSpPr txBox="1"/>
          <p:nvPr/>
        </p:nvSpPr>
        <p:spPr>
          <a:xfrm>
            <a:off x="529236" y="1458356"/>
            <a:ext cx="664118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C7ED0E-8AA2-F9C1-DE12-1DBAD1447499}"/>
              </a:ext>
            </a:extLst>
          </p:cNvPr>
          <p:cNvSpPr txBox="1"/>
          <p:nvPr/>
        </p:nvSpPr>
        <p:spPr>
          <a:xfrm>
            <a:off x="256032" y="866874"/>
            <a:ext cx="6147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grpSp>
        <p:nvGrpSpPr>
          <p:cNvPr id="14" name="Group 2">
            <a:extLst>
              <a:ext uri="{FF2B5EF4-FFF2-40B4-BE49-F238E27FC236}">
                <a16:creationId xmlns:a16="http://schemas.microsoft.com/office/drawing/2014/main" id="{EC2A42CF-36F2-D80B-E4B2-B2D5D5356D07}"/>
              </a:ext>
            </a:extLst>
          </p:cNvPr>
          <p:cNvGrpSpPr/>
          <p:nvPr/>
        </p:nvGrpSpPr>
        <p:grpSpPr>
          <a:xfrm>
            <a:off x="0" y="6311900"/>
            <a:ext cx="12192000" cy="546100"/>
            <a:chOff x="0" y="0"/>
            <a:chExt cx="6186311" cy="277095"/>
          </a:xfrm>
          <a:solidFill>
            <a:srgbClr val="FFC000"/>
          </a:solidFill>
        </p:grpSpPr>
        <p:sp>
          <p:nvSpPr>
            <p:cNvPr id="15" name="Freeform 3">
              <a:extLst>
                <a:ext uri="{FF2B5EF4-FFF2-40B4-BE49-F238E27FC236}">
                  <a16:creationId xmlns:a16="http://schemas.microsoft.com/office/drawing/2014/main" id="{A01B66B6-D850-EC01-D7F9-5DE994E54350}"/>
                </a:ext>
              </a:extLst>
            </p:cNvPr>
            <p:cNvSpPr/>
            <p:nvPr/>
          </p:nvSpPr>
          <p:spPr>
            <a:xfrm>
              <a:off x="0" y="0"/>
              <a:ext cx="6186311" cy="277095"/>
            </a:xfrm>
            <a:custGeom>
              <a:avLst/>
              <a:gdLst/>
              <a:ahLst/>
              <a:cxnLst/>
              <a:rect l="l" t="t" r="r" b="b"/>
              <a:pathLst>
                <a:path w="6186311" h="277095">
                  <a:moveTo>
                    <a:pt x="0" y="0"/>
                  </a:moveTo>
                  <a:lnTo>
                    <a:pt x="6186311" y="0"/>
                  </a:lnTo>
                  <a:lnTo>
                    <a:pt x="6186311" y="277095"/>
                  </a:lnTo>
                  <a:lnTo>
                    <a:pt x="0" y="277095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</p:grpSp>
      <p:pic>
        <p:nvPicPr>
          <p:cNvPr id="16" name="Picture 4">
            <a:extLst>
              <a:ext uri="{FF2B5EF4-FFF2-40B4-BE49-F238E27FC236}">
                <a16:creationId xmlns:a16="http://schemas.microsoft.com/office/drawing/2014/main" id="{2042870C-1850-1E2D-92A4-535108C8FAD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8726575" y="6426200"/>
            <a:ext cx="317500" cy="317500"/>
          </a:xfrm>
          <a:prstGeom prst="rect">
            <a:avLst/>
          </a:prstGeom>
        </p:spPr>
      </p:pic>
      <p:pic>
        <p:nvPicPr>
          <p:cNvPr id="17" name="Picture 5">
            <a:extLst>
              <a:ext uri="{FF2B5EF4-FFF2-40B4-BE49-F238E27FC236}">
                <a16:creationId xmlns:a16="http://schemas.microsoft.com/office/drawing/2014/main" id="{93C93671-BB1D-37C9-75E5-425E0DFADFC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9119414" y="6426200"/>
            <a:ext cx="317500" cy="317500"/>
          </a:xfrm>
          <a:prstGeom prst="rect">
            <a:avLst/>
          </a:prstGeom>
        </p:spPr>
      </p:pic>
      <p:pic>
        <p:nvPicPr>
          <p:cNvPr id="18" name="Picture 6">
            <a:extLst>
              <a:ext uri="{FF2B5EF4-FFF2-40B4-BE49-F238E27FC236}">
                <a16:creationId xmlns:a16="http://schemas.microsoft.com/office/drawing/2014/main" id="{78452270-61FF-C4A5-F606-9122360A2C1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9512253" y="6426200"/>
            <a:ext cx="317500" cy="317500"/>
          </a:xfrm>
          <a:prstGeom prst="rect">
            <a:avLst/>
          </a:prstGeom>
        </p:spPr>
      </p:pic>
      <p:pic>
        <p:nvPicPr>
          <p:cNvPr id="19" name="Picture 7">
            <a:extLst>
              <a:ext uri="{FF2B5EF4-FFF2-40B4-BE49-F238E27FC236}">
                <a16:creationId xmlns:a16="http://schemas.microsoft.com/office/drawing/2014/main" id="{B3C23B70-5C7B-3880-6353-93A04EEC843F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>
          <a:xfrm>
            <a:off x="9883567" y="6426200"/>
            <a:ext cx="317500" cy="317500"/>
          </a:xfrm>
          <a:prstGeom prst="rect">
            <a:avLst/>
          </a:prstGeom>
        </p:spPr>
      </p:pic>
      <p:sp>
        <p:nvSpPr>
          <p:cNvPr id="20" name="TextBox 8">
            <a:extLst>
              <a:ext uri="{FF2B5EF4-FFF2-40B4-BE49-F238E27FC236}">
                <a16:creationId xmlns:a16="http://schemas.microsoft.com/office/drawing/2014/main" id="{2DA6BF67-607D-B3D7-273E-33C7CA1D541C}"/>
              </a:ext>
            </a:extLst>
          </p:cNvPr>
          <p:cNvSpPr txBox="1"/>
          <p:nvPr/>
        </p:nvSpPr>
        <p:spPr>
          <a:xfrm>
            <a:off x="10201067" y="6448425"/>
            <a:ext cx="1990933" cy="2490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70"/>
              </a:lnSpc>
              <a:spcBef>
                <a:spcPct val="0"/>
              </a:spcBef>
            </a:pPr>
            <a:r>
              <a:rPr lang="en-US" sz="1725" spc="86" dirty="0">
                <a:solidFill>
                  <a:srgbClr val="FFFFFF"/>
                </a:solidFill>
                <a:latin typeface="Lato Bold"/>
              </a:rPr>
              <a:t>https://vitb.ac.in/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4B359D8-C111-C06E-CA88-29046AF73116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8" t="6458" r="666" b="6557"/>
          <a:stretch/>
        </p:blipFill>
        <p:spPr>
          <a:xfrm>
            <a:off x="0" y="-15722"/>
            <a:ext cx="12192000" cy="955522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38533CF6-0695-CC89-7BAA-C62B47999185}"/>
              </a:ext>
            </a:extLst>
          </p:cNvPr>
          <p:cNvSpPr txBox="1"/>
          <p:nvPr/>
        </p:nvSpPr>
        <p:spPr>
          <a:xfrm>
            <a:off x="256032" y="6448425"/>
            <a:ext cx="4396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OF AI&amp;ML, VKIT</a:t>
            </a:r>
          </a:p>
        </p:txBody>
      </p:sp>
    </p:spTree>
    <p:extLst>
      <p:ext uri="{BB962C8B-B14F-4D97-AF65-F5344CB8AC3E}">
        <p14:creationId xmlns:p14="http://schemas.microsoft.com/office/powerpoint/2010/main" val="42283746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23CCF-FCF8-59CD-0853-1A5ECC3F2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73316F-F3D4-C911-8214-D88052133516}"/>
              </a:ext>
            </a:extLst>
          </p:cNvPr>
          <p:cNvSpPr txBox="1"/>
          <p:nvPr/>
        </p:nvSpPr>
        <p:spPr>
          <a:xfrm>
            <a:off x="910166" y="1343954"/>
            <a:ext cx="1116441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Yuntae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Jeon, Dai Quoc Tran, Almo Senja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Kulinan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Taeheon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Kim, Minsoo Park, Seunghee Park, “Vision-Based Motion Prediction For Construction Workers Safety in Real-Time Multi-Camera System”, In Proc. of Advanced Engineering Informatics, Volume 62, Part D, 102898, 2024, ISSN 1474-0346, https://doi.org/10.1016/j. aei.2024.102898. 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Maryam Qasim, Elena Verdu, “Video Anomaly Detection System Using Deep Convolutional and Recurrent Models, Results in Engineering”, Volume 18, 101026, 2023, ISSN 2590-1230,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https://doi.org/10.1016/j.rineng.2023.101026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Camilo A. Ruiz-Beltrán, Adrián Romero-Garcés, Martín González, Antonio Sánchez Pedraza, Juan A. Rodríguez-Fernández, Antonio Bandera, “Real-Time Embedded Eye Detection System, Expert Systems With Applications”, Volume 194, 116-505, 2022, ISSN 0957-4174, https://doi.org/10.1016/j.eswa.2022.116505.  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Khawla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Alhanaee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Mitha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Alhammadi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Nahla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Almenhali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Maad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Shatnawi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“Face Recognition Smart Attendance System using Deep Transfer Learning”, Procedia Computer Science, Volume 192, pp. 4093-4102, 2021, ISSN 1877-0509, https://doi.org/ 10.1016/j.procs.2021.09.184.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Serign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Modou Bah, Fang Ming, “An Improved Face Recognition Algorithm and its Application in Attendance Management System”, Volume 5, 100014, 2020, ISSN 2590 0056, https://doi.org/10.1016/j.array.2019.100014.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2B9105-B2DA-D29E-A22C-61AC9F718019}"/>
              </a:ext>
            </a:extLst>
          </p:cNvPr>
          <p:cNvSpPr txBox="1"/>
          <p:nvPr/>
        </p:nvSpPr>
        <p:spPr>
          <a:xfrm>
            <a:off x="402166" y="1343954"/>
            <a:ext cx="66039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[11]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[12]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[13]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[14]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[15]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9E7DC3-2FAF-257F-7959-694F0BDA0A80}"/>
              </a:ext>
            </a:extLst>
          </p:cNvPr>
          <p:cNvSpPr txBox="1"/>
          <p:nvPr/>
        </p:nvSpPr>
        <p:spPr>
          <a:xfrm>
            <a:off x="237067" y="908633"/>
            <a:ext cx="61129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grpSp>
        <p:nvGrpSpPr>
          <p:cNvPr id="14" name="Group 2">
            <a:extLst>
              <a:ext uri="{FF2B5EF4-FFF2-40B4-BE49-F238E27FC236}">
                <a16:creationId xmlns:a16="http://schemas.microsoft.com/office/drawing/2014/main" id="{C73A7FB3-5A95-ABB1-0BAA-70311A0B90E4}"/>
              </a:ext>
            </a:extLst>
          </p:cNvPr>
          <p:cNvGrpSpPr/>
          <p:nvPr/>
        </p:nvGrpSpPr>
        <p:grpSpPr>
          <a:xfrm>
            <a:off x="0" y="6311900"/>
            <a:ext cx="12192000" cy="546100"/>
            <a:chOff x="0" y="0"/>
            <a:chExt cx="6186311" cy="277095"/>
          </a:xfrm>
          <a:solidFill>
            <a:srgbClr val="FFC000"/>
          </a:solidFill>
        </p:grpSpPr>
        <p:sp>
          <p:nvSpPr>
            <p:cNvPr id="15" name="Freeform 3">
              <a:extLst>
                <a:ext uri="{FF2B5EF4-FFF2-40B4-BE49-F238E27FC236}">
                  <a16:creationId xmlns:a16="http://schemas.microsoft.com/office/drawing/2014/main" id="{DD6EE073-46E2-B605-B1E6-CB8268D3DD1A}"/>
                </a:ext>
              </a:extLst>
            </p:cNvPr>
            <p:cNvSpPr/>
            <p:nvPr/>
          </p:nvSpPr>
          <p:spPr>
            <a:xfrm>
              <a:off x="0" y="0"/>
              <a:ext cx="6186311" cy="277095"/>
            </a:xfrm>
            <a:custGeom>
              <a:avLst/>
              <a:gdLst/>
              <a:ahLst/>
              <a:cxnLst/>
              <a:rect l="l" t="t" r="r" b="b"/>
              <a:pathLst>
                <a:path w="6186311" h="277095">
                  <a:moveTo>
                    <a:pt x="0" y="0"/>
                  </a:moveTo>
                  <a:lnTo>
                    <a:pt x="6186311" y="0"/>
                  </a:lnTo>
                  <a:lnTo>
                    <a:pt x="6186311" y="277095"/>
                  </a:lnTo>
                  <a:lnTo>
                    <a:pt x="0" y="277095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</p:grpSp>
      <p:pic>
        <p:nvPicPr>
          <p:cNvPr id="16" name="Picture 4">
            <a:extLst>
              <a:ext uri="{FF2B5EF4-FFF2-40B4-BE49-F238E27FC236}">
                <a16:creationId xmlns:a16="http://schemas.microsoft.com/office/drawing/2014/main" id="{822BC241-995F-CC74-2855-C8CA91986F8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8726575" y="6426200"/>
            <a:ext cx="317500" cy="317500"/>
          </a:xfrm>
          <a:prstGeom prst="rect">
            <a:avLst/>
          </a:prstGeom>
        </p:spPr>
      </p:pic>
      <p:pic>
        <p:nvPicPr>
          <p:cNvPr id="17" name="Picture 5">
            <a:extLst>
              <a:ext uri="{FF2B5EF4-FFF2-40B4-BE49-F238E27FC236}">
                <a16:creationId xmlns:a16="http://schemas.microsoft.com/office/drawing/2014/main" id="{38A87F08-E3F8-DB57-68FB-942E96DD4DE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9119414" y="6426200"/>
            <a:ext cx="317500" cy="317500"/>
          </a:xfrm>
          <a:prstGeom prst="rect">
            <a:avLst/>
          </a:prstGeom>
        </p:spPr>
      </p:pic>
      <p:pic>
        <p:nvPicPr>
          <p:cNvPr id="18" name="Picture 6">
            <a:extLst>
              <a:ext uri="{FF2B5EF4-FFF2-40B4-BE49-F238E27FC236}">
                <a16:creationId xmlns:a16="http://schemas.microsoft.com/office/drawing/2014/main" id="{F6F66C5F-C62C-C34D-CFBE-ED53A61FDDE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9512253" y="6426200"/>
            <a:ext cx="317500" cy="317500"/>
          </a:xfrm>
          <a:prstGeom prst="rect">
            <a:avLst/>
          </a:prstGeom>
        </p:spPr>
      </p:pic>
      <p:pic>
        <p:nvPicPr>
          <p:cNvPr id="19" name="Picture 7">
            <a:extLst>
              <a:ext uri="{FF2B5EF4-FFF2-40B4-BE49-F238E27FC236}">
                <a16:creationId xmlns:a16="http://schemas.microsoft.com/office/drawing/2014/main" id="{612B3865-227B-0699-AB3C-06E23BDD1DC0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>
          <a:xfrm>
            <a:off x="9883567" y="6426200"/>
            <a:ext cx="317500" cy="317500"/>
          </a:xfrm>
          <a:prstGeom prst="rect">
            <a:avLst/>
          </a:prstGeom>
        </p:spPr>
      </p:pic>
      <p:sp>
        <p:nvSpPr>
          <p:cNvPr id="20" name="TextBox 8">
            <a:extLst>
              <a:ext uri="{FF2B5EF4-FFF2-40B4-BE49-F238E27FC236}">
                <a16:creationId xmlns:a16="http://schemas.microsoft.com/office/drawing/2014/main" id="{59E19B3F-EDDD-B1CC-81D7-0206E836E9EB}"/>
              </a:ext>
            </a:extLst>
          </p:cNvPr>
          <p:cNvSpPr txBox="1"/>
          <p:nvPr/>
        </p:nvSpPr>
        <p:spPr>
          <a:xfrm>
            <a:off x="10201067" y="6448425"/>
            <a:ext cx="1990933" cy="2490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70"/>
              </a:lnSpc>
              <a:spcBef>
                <a:spcPct val="0"/>
              </a:spcBef>
            </a:pPr>
            <a:r>
              <a:rPr lang="en-US" sz="1725" spc="86" dirty="0">
                <a:solidFill>
                  <a:srgbClr val="FFFFFF"/>
                </a:solidFill>
                <a:latin typeface="Lato Bold"/>
              </a:rPr>
              <a:t>https://vitb.ac.in/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8BD8794-839E-9C17-D626-21F77D596023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8" t="6458" r="666" b="6557"/>
          <a:stretch/>
        </p:blipFill>
        <p:spPr>
          <a:xfrm>
            <a:off x="0" y="-15722"/>
            <a:ext cx="12192000" cy="955522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717D492-41B7-EE7B-0EA4-7A39432D573B}"/>
              </a:ext>
            </a:extLst>
          </p:cNvPr>
          <p:cNvSpPr txBox="1"/>
          <p:nvPr/>
        </p:nvSpPr>
        <p:spPr>
          <a:xfrm>
            <a:off x="256032" y="6448425"/>
            <a:ext cx="4396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OF AI&amp;ML, VKIT</a:t>
            </a:r>
          </a:p>
        </p:txBody>
      </p:sp>
    </p:spTree>
    <p:extLst>
      <p:ext uri="{BB962C8B-B14F-4D97-AF65-F5344CB8AC3E}">
        <p14:creationId xmlns:p14="http://schemas.microsoft.com/office/powerpoint/2010/main" val="41853397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2">
            <a:extLst>
              <a:ext uri="{FF2B5EF4-FFF2-40B4-BE49-F238E27FC236}">
                <a16:creationId xmlns:a16="http://schemas.microsoft.com/office/drawing/2014/main" id="{C2A77CD9-6D01-A8DB-C66D-BF03B69941D6}"/>
              </a:ext>
            </a:extLst>
          </p:cNvPr>
          <p:cNvGrpSpPr/>
          <p:nvPr/>
        </p:nvGrpSpPr>
        <p:grpSpPr>
          <a:xfrm>
            <a:off x="0" y="6311900"/>
            <a:ext cx="12192000" cy="546100"/>
            <a:chOff x="0" y="0"/>
            <a:chExt cx="6186311" cy="277095"/>
          </a:xfrm>
          <a:solidFill>
            <a:srgbClr val="FFC000"/>
          </a:solidFill>
        </p:grpSpPr>
        <p:sp>
          <p:nvSpPr>
            <p:cNvPr id="20" name="Freeform 3">
              <a:extLst>
                <a:ext uri="{FF2B5EF4-FFF2-40B4-BE49-F238E27FC236}">
                  <a16:creationId xmlns:a16="http://schemas.microsoft.com/office/drawing/2014/main" id="{78297845-B487-3D71-6C3A-180D740BEF2A}"/>
                </a:ext>
              </a:extLst>
            </p:cNvPr>
            <p:cNvSpPr/>
            <p:nvPr/>
          </p:nvSpPr>
          <p:spPr>
            <a:xfrm>
              <a:off x="0" y="0"/>
              <a:ext cx="6186311" cy="277095"/>
            </a:xfrm>
            <a:custGeom>
              <a:avLst/>
              <a:gdLst/>
              <a:ahLst/>
              <a:cxnLst/>
              <a:rect l="l" t="t" r="r" b="b"/>
              <a:pathLst>
                <a:path w="6186311" h="277095">
                  <a:moveTo>
                    <a:pt x="0" y="0"/>
                  </a:moveTo>
                  <a:lnTo>
                    <a:pt x="6186311" y="0"/>
                  </a:lnTo>
                  <a:lnTo>
                    <a:pt x="6186311" y="277095"/>
                  </a:lnTo>
                  <a:lnTo>
                    <a:pt x="0" y="277095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5BF16DE-C2ED-E5FA-FED5-20411081BC54}"/>
              </a:ext>
            </a:extLst>
          </p:cNvPr>
          <p:cNvCxnSpPr/>
          <p:nvPr/>
        </p:nvCxnSpPr>
        <p:spPr>
          <a:xfrm>
            <a:off x="0" y="939800"/>
            <a:ext cx="12192000" cy="105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4">
            <a:extLst>
              <a:ext uri="{FF2B5EF4-FFF2-40B4-BE49-F238E27FC236}">
                <a16:creationId xmlns:a16="http://schemas.microsoft.com/office/drawing/2014/main" id="{A38916BD-2F6C-8C5C-69F1-20EF826FFC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8726575" y="6426200"/>
            <a:ext cx="317500" cy="317500"/>
          </a:xfrm>
          <a:prstGeom prst="rect">
            <a:avLst/>
          </a:prstGeom>
        </p:spPr>
      </p:pic>
      <p:pic>
        <p:nvPicPr>
          <p:cNvPr id="27" name="Picture 5">
            <a:extLst>
              <a:ext uri="{FF2B5EF4-FFF2-40B4-BE49-F238E27FC236}">
                <a16:creationId xmlns:a16="http://schemas.microsoft.com/office/drawing/2014/main" id="{C0CB9FD8-D8C9-4709-8349-C8C9267E832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9119414" y="6426200"/>
            <a:ext cx="317500" cy="317500"/>
          </a:xfrm>
          <a:prstGeom prst="rect">
            <a:avLst/>
          </a:prstGeom>
        </p:spPr>
      </p:pic>
      <p:pic>
        <p:nvPicPr>
          <p:cNvPr id="28" name="Picture 6">
            <a:extLst>
              <a:ext uri="{FF2B5EF4-FFF2-40B4-BE49-F238E27FC236}">
                <a16:creationId xmlns:a16="http://schemas.microsoft.com/office/drawing/2014/main" id="{DB4FE3B4-BB90-79D8-EB65-C10A428A39D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9512253" y="6426200"/>
            <a:ext cx="317500" cy="317500"/>
          </a:xfrm>
          <a:prstGeom prst="rect">
            <a:avLst/>
          </a:prstGeom>
        </p:spPr>
      </p:pic>
      <p:pic>
        <p:nvPicPr>
          <p:cNvPr id="29" name="Picture 7">
            <a:extLst>
              <a:ext uri="{FF2B5EF4-FFF2-40B4-BE49-F238E27FC236}">
                <a16:creationId xmlns:a16="http://schemas.microsoft.com/office/drawing/2014/main" id="{6BEDBDB7-0B57-60B5-B67A-1FA0861D1DA9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>
          <a:xfrm>
            <a:off x="9883567" y="6426200"/>
            <a:ext cx="317500" cy="317500"/>
          </a:xfrm>
          <a:prstGeom prst="rect">
            <a:avLst/>
          </a:prstGeom>
        </p:spPr>
      </p:pic>
      <p:sp>
        <p:nvSpPr>
          <p:cNvPr id="30" name="TextBox 8">
            <a:extLst>
              <a:ext uri="{FF2B5EF4-FFF2-40B4-BE49-F238E27FC236}">
                <a16:creationId xmlns:a16="http://schemas.microsoft.com/office/drawing/2014/main" id="{BDC56BF2-92F3-3F12-F910-2816DF452EE8}"/>
              </a:ext>
            </a:extLst>
          </p:cNvPr>
          <p:cNvSpPr txBox="1"/>
          <p:nvPr/>
        </p:nvSpPr>
        <p:spPr>
          <a:xfrm>
            <a:off x="10201067" y="6448425"/>
            <a:ext cx="1990933" cy="2490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70"/>
              </a:lnSpc>
              <a:spcBef>
                <a:spcPct val="0"/>
              </a:spcBef>
            </a:pPr>
            <a:r>
              <a:rPr lang="en-US" sz="1725" spc="86" dirty="0">
                <a:solidFill>
                  <a:srgbClr val="FFFFFF"/>
                </a:solidFill>
                <a:latin typeface="Lato Bold"/>
              </a:rPr>
              <a:t>https://vitb.ac.in/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7C11B58-EB3F-0722-64C6-6988DC42213F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8" t="6458" r="666" b="6557"/>
          <a:stretch/>
        </p:blipFill>
        <p:spPr>
          <a:xfrm>
            <a:off x="0" y="-15722"/>
            <a:ext cx="12192000" cy="95552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46FD0C1-C816-8AC4-F6DA-0F444E3BC589}"/>
              </a:ext>
            </a:extLst>
          </p:cNvPr>
          <p:cNvSpPr txBox="1"/>
          <p:nvPr/>
        </p:nvSpPr>
        <p:spPr>
          <a:xfrm>
            <a:off x="3457415" y="2327596"/>
            <a:ext cx="527717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     </a:t>
            </a:r>
          </a:p>
          <a:p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YOU!</a:t>
            </a:r>
            <a:endParaRPr lang="en-IN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A57BB6-31D4-6EC3-CD80-CEB556713C89}"/>
              </a:ext>
            </a:extLst>
          </p:cNvPr>
          <p:cNvSpPr txBox="1"/>
          <p:nvPr/>
        </p:nvSpPr>
        <p:spPr>
          <a:xfrm>
            <a:off x="256032" y="6448425"/>
            <a:ext cx="4396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OF AI&amp;ML, VKIT</a:t>
            </a:r>
          </a:p>
        </p:txBody>
      </p:sp>
    </p:spTree>
    <p:extLst>
      <p:ext uri="{BB962C8B-B14F-4D97-AF65-F5344CB8AC3E}">
        <p14:creationId xmlns:p14="http://schemas.microsoft.com/office/powerpoint/2010/main" val="24995179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3236</TotalTime>
  <Words>4002</Words>
  <Application>Microsoft Office PowerPoint</Application>
  <PresentationFormat>Widescreen</PresentationFormat>
  <Paragraphs>406</Paragraphs>
  <Slides>34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Arial</vt:lpstr>
      <vt:lpstr>Calibri</vt:lpstr>
      <vt:lpstr>Calibri Light</vt:lpstr>
      <vt:lpstr>Lato Bold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Nithin Gowdru</dc:creator>
  <cp:lastModifiedBy>Nithin Gowdru</cp:lastModifiedBy>
  <cp:revision>120</cp:revision>
  <dcterms:created xsi:type="dcterms:W3CDTF">2025-05-12T14:50:28Z</dcterms:created>
  <dcterms:modified xsi:type="dcterms:W3CDTF">2026-01-08T00:30:02Z</dcterms:modified>
</cp:coreProperties>
</file>